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C2F7D2F-B249-4613-A6A3-61962B379ED6}">
  <a:tblStyle styleId="{7C2F7D2F-B249-4613-A6A3-61962B379ED6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F81BD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F81BD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4F81BD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4F81BD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df787e1bf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df787e1bf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f787e1bfd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df787e1bfd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df787e1bfd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df787e1bfd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f787e1bfd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df787e1bfd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df787e1bfd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df787e1bfd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df787e1bfd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df787e1bfd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df787e1bfd_0_5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df787e1bfd_0_5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df787e1bfd_0_6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df787e1bfd_0_6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df787e1bfd_0_7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df787e1bfd_0_7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df787e1bfd_0_6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df787e1bfd_0_6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df787e1bfd_0_6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df787e1bfd_0_6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df787e1bfd_0_6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df787e1bfd_0_6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dfcd392f36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dfcd392f36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df787e1bfd_0_7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df787e1bfd_0_7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sr4321@columbia.edu" TargetMode="External"/><Relationship Id="rId4" Type="http://schemas.openxmlformats.org/officeDocument/2006/relationships/hyperlink" Target="http://github.com/aishani-rachakonda/genai-using-llms-final-project" TargetMode="External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mailto:sr4321@columbia.edu" TargetMode="External"/><Relationship Id="rId4" Type="http://schemas.openxmlformats.org/officeDocument/2006/relationships/hyperlink" Target="http://github.com/aishani-rachakonda/genai-using-llms-final-project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-1558160" y="27365"/>
            <a:ext cx="10972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CC4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B8BCC4"/>
                </a:solidFill>
                <a:latin typeface="Calibri"/>
                <a:ea typeface="Calibri"/>
                <a:cs typeface="Calibri"/>
                <a:sym typeface="Calibri"/>
              </a:rPr>
              <a:t>HPML Final Project  ·  Spring 2026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-1558160" y="1490405"/>
            <a:ext cx="109728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</a:pPr>
            <a:r>
              <a:rPr b="1" i="0" lang="en" sz="5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[Project Title]</a:t>
            </a:r>
            <a:endParaRPr b="0" i="0" sz="5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-1558160" y="2862005"/>
            <a:ext cx="10972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CC4"/>
              </a:buClr>
              <a:buSzPts val="2000"/>
              <a:buFont typeface="Calibri"/>
              <a:buNone/>
            </a:pPr>
            <a:r>
              <a:rPr b="0" i="1" lang="en" sz="2000" u="none" cap="none" strike="noStrike">
                <a:solidFill>
                  <a:srgbClr val="B8BCC4"/>
                </a:solidFill>
                <a:latin typeface="Calibri"/>
                <a:ea typeface="Calibri"/>
                <a:cs typeface="Calibri"/>
                <a:sym typeface="Calibri"/>
              </a:rPr>
              <a:t>[A one-sentence description of what you optimized and the headline result]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-1558160" y="4050725"/>
            <a:ext cx="54864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[Team Name]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CD2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C8CCD2"/>
                </a:solidFill>
                <a:latin typeface="Calibri"/>
                <a:ea typeface="Calibri"/>
                <a:cs typeface="Calibri"/>
                <a:sym typeface="Calibri"/>
              </a:rPr>
              <a:t>[Member 1] · [UNI]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CD2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C8CCD2"/>
                </a:solidFill>
                <a:latin typeface="Calibri"/>
                <a:ea typeface="Calibri"/>
                <a:cs typeface="Calibri"/>
                <a:sym typeface="Calibri"/>
              </a:rPr>
              <a:t>[Member 2] · [UNI]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CD2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C8CCD2"/>
                </a:solidFill>
                <a:latin typeface="Calibri"/>
                <a:ea typeface="Calibri"/>
                <a:cs typeface="Calibri"/>
                <a:sym typeface="Calibri"/>
              </a:rPr>
              <a:t>[Member 3] · [UNI]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CD2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C8CCD2"/>
                </a:solidFill>
                <a:latin typeface="Calibri"/>
                <a:ea typeface="Calibri"/>
                <a:cs typeface="Calibri"/>
                <a:sym typeface="Calibri"/>
              </a:rPr>
              <a:t>[Member 4] · [UNI]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4294000" y="4050725"/>
            <a:ext cx="54864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GitHub:  https://github.com/[org]/[repo]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Tracking:  https://[wandb / mlflow / tensorboard / ...]/[project]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3"/>
          <p:cNvSpPr/>
          <p:nvPr/>
        </p:nvSpPr>
        <p:spPr>
          <a:xfrm>
            <a:off x="-1558160" y="5879525"/>
            <a:ext cx="10972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939A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8E939A"/>
                </a:solidFill>
                <a:latin typeface="Calibri"/>
                <a:ea typeface="Calibri"/>
                <a:cs typeface="Calibri"/>
                <a:sym typeface="Calibri"/>
              </a:rPr>
              <a:t>Dr. Kaoutar El Maghraoui  ·  Columbia University  ·  Week of May 4, 2026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-2112775" y="-521275"/>
            <a:ext cx="12191700" cy="6858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-1558150" y="480600"/>
            <a:ext cx="4627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C9CDD3"/>
                </a:solidFill>
                <a:latin typeface="Calibri"/>
                <a:ea typeface="Calibri"/>
                <a:cs typeface="Calibri"/>
                <a:sym typeface="Calibri"/>
              </a:rPr>
              <a:t>Generative AI Using LLMs </a:t>
            </a:r>
            <a:r>
              <a:rPr i="0" lang="en" sz="1600" u="none" cap="none" strike="noStrike">
                <a:solidFill>
                  <a:srgbClr val="C9CDD3"/>
                </a:solidFill>
                <a:latin typeface="Calibri"/>
                <a:ea typeface="Calibri"/>
                <a:cs typeface="Calibri"/>
                <a:sym typeface="Calibri"/>
              </a:rPr>
              <a:t>Final Project · Spring 2026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-1433925" y="908150"/>
            <a:ext cx="7135200" cy="38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Beyond Final Answers: Auditing Trajectory-Level Hallucinations in Multi-Agent Industrial Workflows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-1433925" y="5372900"/>
            <a:ext cx="6406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Name: Shriya Aishani Rachakonda (sr4321)</a:t>
            </a:r>
            <a:endParaRPr b="1"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Email: </a:t>
            </a:r>
            <a:r>
              <a:rPr b="1" lang="en" sz="24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sr4321@columbia.edu</a:t>
            </a:r>
            <a:endParaRPr b="1"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-1433925" y="4939050"/>
            <a:ext cx="1019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GitHub: </a:t>
            </a:r>
            <a:r>
              <a:rPr b="1" lang="en" sz="24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github.com/aishani-rachakonda/genai-using-llms-final-project</a:t>
            </a:r>
            <a:r>
              <a:rPr b="1" lang="e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1" sz="2400">
              <a:solidFill>
                <a:schemeClr val="lt1"/>
              </a:solidFill>
            </a:endParaRPr>
          </a:p>
        </p:txBody>
      </p:sp>
      <p:pic>
        <p:nvPicPr>
          <p:cNvPr id="65" name="Google Shape;65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05927" y="347477"/>
            <a:ext cx="4108725" cy="1529600"/>
          </a:xfrm>
          <a:prstGeom prst="rect">
            <a:avLst/>
          </a:prstGeom>
          <a:solidFill>
            <a:srgbClr val="1F232A"/>
          </a:solidFill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/>
        </p:nvSpPr>
        <p:spPr>
          <a:xfrm>
            <a:off x="365759" y="1411944"/>
            <a:ext cx="4421100" cy="24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13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 sz="1319"/>
          </a:p>
          <a:p>
            <a:pPr indent="-296636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071"/>
              <a:buChar char="●"/>
            </a:pPr>
            <a:r>
              <a:rPr lang="en" sz="1071"/>
              <a:t>AssetOpsBench (IBM Research): a benchmark for AI-driven failure diagnosis of industrial assets (chillers, pumps, compressors). </a:t>
            </a:r>
            <a:br>
              <a:rPr lang="en" sz="1071"/>
            </a:br>
            <a:endParaRPr sz="1071"/>
          </a:p>
          <a:p>
            <a:pPr indent="-29663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71"/>
              <a:buChar char="●"/>
            </a:pPr>
            <a:r>
              <a:rPr lang="en" sz="1071"/>
              <a:t>Given a sensor reading or anomaly report, the system must identify the root cause, predict failure modes, and generate a maintenance work order </a:t>
            </a:r>
            <a:r>
              <a:rPr lang="en" sz="1071"/>
              <a:t>—</a:t>
            </a:r>
            <a:r>
              <a:rPr lang="en" sz="1071"/>
              <a:t> automatically, end-to-end. </a:t>
            </a:r>
            <a:endParaRPr sz="107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7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989"/>
              </a:spcAft>
              <a:buNone/>
            </a:pPr>
            <a:r>
              <a:t/>
            </a:r>
            <a:endParaRPr sz="1071"/>
          </a:p>
        </p:txBody>
      </p:sp>
      <p:sp>
        <p:nvSpPr>
          <p:cNvPr id="71" name="Google Shape;71;p14"/>
          <p:cNvSpPr/>
          <p:nvPr/>
        </p:nvSpPr>
        <p:spPr>
          <a:xfrm>
            <a:off x="0" y="0"/>
            <a:ext cx="9144000" cy="118860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365760" y="226590"/>
            <a:ext cx="1143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Setting: AssetOpsBench</a:t>
            </a:r>
            <a:endParaRPr sz="2400"/>
          </a:p>
        </p:txBody>
      </p:sp>
      <p:sp>
        <p:nvSpPr>
          <p:cNvPr id="73" name="Google Shape;73;p14"/>
          <p:cNvSpPr txBox="1"/>
          <p:nvPr/>
        </p:nvSpPr>
        <p:spPr>
          <a:xfrm>
            <a:off x="365752" y="749800"/>
            <a:ext cx="8778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Industrial multi-agent framework for data-center asset operations</a:t>
            </a:r>
            <a:endParaRPr sz="1200"/>
          </a:p>
        </p:txBody>
      </p:sp>
      <p:sp>
        <p:nvSpPr>
          <p:cNvPr id="74" name="Google Shape;74;p14"/>
          <p:cNvSpPr txBox="1"/>
          <p:nvPr/>
        </p:nvSpPr>
        <p:spPr>
          <a:xfrm>
            <a:off x="4534284" y="1813119"/>
            <a:ext cx="4421100" cy="20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6636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71"/>
              <a:buChar char="●"/>
            </a:pPr>
            <a:r>
              <a:rPr lang="en" sz="1071">
                <a:solidFill>
                  <a:schemeClr val="dk1"/>
                </a:solidFill>
              </a:rPr>
              <a:t>It does this via a Plan-Execute (DAG-based) orchestrator that dispatches tasks across four FastMCP tool servers —</a:t>
            </a:r>
            <a:endParaRPr sz="1071">
              <a:solidFill>
                <a:schemeClr val="dk1"/>
              </a:solidFill>
            </a:endParaRPr>
          </a:p>
          <a:p>
            <a:pPr indent="-296636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71"/>
              <a:buChar char="○"/>
            </a:pPr>
            <a:r>
              <a:rPr lang="en" sz="1071">
                <a:solidFill>
                  <a:schemeClr val="dk1"/>
                </a:solidFill>
              </a:rPr>
              <a:t> IoT (sensor retrieval), </a:t>
            </a:r>
            <a:endParaRPr sz="1071">
              <a:solidFill>
                <a:schemeClr val="dk1"/>
              </a:solidFill>
            </a:endParaRPr>
          </a:p>
          <a:p>
            <a:pPr indent="-296636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71"/>
              <a:buChar char="○"/>
            </a:pPr>
            <a:r>
              <a:rPr lang="en" sz="1071">
                <a:solidFill>
                  <a:schemeClr val="dk1"/>
                </a:solidFill>
              </a:rPr>
              <a:t>FSMR (failure-mode state modeling), </a:t>
            </a:r>
            <a:endParaRPr sz="1071">
              <a:solidFill>
                <a:schemeClr val="dk1"/>
              </a:solidFill>
            </a:endParaRPr>
          </a:p>
          <a:p>
            <a:pPr indent="-296636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71"/>
              <a:buChar char="○"/>
            </a:pPr>
            <a:r>
              <a:rPr lang="en" sz="1071">
                <a:solidFill>
                  <a:schemeClr val="dk1"/>
                </a:solidFill>
              </a:rPr>
              <a:t>TSFM (time-series forecasting &amp; anomaly detection), </a:t>
            </a:r>
            <a:endParaRPr sz="1071">
              <a:solidFill>
                <a:schemeClr val="dk1"/>
              </a:solidFill>
            </a:endParaRPr>
          </a:p>
          <a:p>
            <a:pPr indent="-296636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71"/>
              <a:buChar char="○"/>
            </a:pPr>
            <a:r>
              <a:rPr lang="en" sz="1071">
                <a:solidFill>
                  <a:schemeClr val="dk1"/>
                </a:solidFill>
              </a:rPr>
              <a:t>WO (work-order generation). </a:t>
            </a:r>
            <a:br>
              <a:rPr lang="en" sz="1071">
                <a:solidFill>
                  <a:schemeClr val="dk1"/>
                </a:solidFill>
              </a:rPr>
            </a:br>
            <a:endParaRPr sz="1071">
              <a:solidFill>
                <a:schemeClr val="dk1"/>
              </a:solidFill>
            </a:endParaRPr>
          </a:p>
          <a:p>
            <a:pPr indent="-29663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71"/>
              <a:buChar char="●"/>
            </a:pPr>
            <a:r>
              <a:rPr lang="en" sz="1071">
                <a:solidFill>
                  <a:schemeClr val="dk1"/>
                </a:solidFill>
              </a:rPr>
              <a:t>Each scenario produces a sequential Thought → Action → Observation trace serialized as a JSON array. </a:t>
            </a:r>
            <a:endParaRPr b="1" sz="1813">
              <a:solidFill>
                <a:srgbClr val="1F232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989"/>
              </a:spcAft>
              <a:buNone/>
            </a:pPr>
            <a:r>
              <a:t/>
            </a:r>
            <a:endParaRPr sz="107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/>
          <p:nvPr/>
        </p:nvSpPr>
        <p:spPr>
          <a:xfrm>
            <a:off x="0" y="0"/>
            <a:ext cx="9144000" cy="89160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30007" rotWithShape="0" dir="5400000" dist="17254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274388" y="68597"/>
            <a:ext cx="8574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Setting: AssetOpsBench</a:t>
            </a:r>
            <a:endParaRPr sz="2400"/>
          </a:p>
        </p:txBody>
      </p:sp>
      <p:sp>
        <p:nvSpPr>
          <p:cNvPr id="81" name="Google Shape;81;p15"/>
          <p:cNvSpPr txBox="1"/>
          <p:nvPr/>
        </p:nvSpPr>
        <p:spPr>
          <a:xfrm>
            <a:off x="274388" y="562494"/>
            <a:ext cx="85746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25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Industrial multi-agent framework for data-center asset operations</a:t>
            </a:r>
            <a:endParaRPr sz="1050"/>
          </a:p>
        </p:txBody>
      </p:sp>
      <p:sp>
        <p:nvSpPr>
          <p:cNvPr id="82" name="Google Shape;82;p15"/>
          <p:cNvSpPr/>
          <p:nvPr/>
        </p:nvSpPr>
        <p:spPr>
          <a:xfrm>
            <a:off x="274388" y="1063251"/>
            <a:ext cx="1852200" cy="1166100"/>
          </a:xfrm>
          <a:prstGeom prst="rect">
            <a:avLst/>
          </a:prstGeom>
          <a:solidFill>
            <a:srgbClr val="1F6FEB"/>
          </a:solidFill>
          <a:ln>
            <a:noFill/>
          </a:ln>
          <a:effectLst>
            <a:outerShdw blurRad="30007" rotWithShape="0" dir="5400000" dist="17254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342984" y="1097549"/>
            <a:ext cx="17148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IoT</a:t>
            </a:r>
            <a:endParaRPr sz="1050"/>
          </a:p>
        </p:txBody>
      </p:sp>
      <p:sp>
        <p:nvSpPr>
          <p:cNvPr id="84" name="Google Shape;84;p15"/>
          <p:cNvSpPr txBox="1"/>
          <p:nvPr/>
        </p:nvSpPr>
        <p:spPr>
          <a:xfrm>
            <a:off x="342984" y="1440533"/>
            <a:ext cx="17148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Sensor data</a:t>
            </a:r>
            <a:b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download &amp;</a:t>
            </a:r>
            <a:b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property lookup</a:t>
            </a:r>
            <a:endParaRPr sz="1050"/>
          </a:p>
        </p:txBody>
      </p:sp>
      <p:sp>
        <p:nvSpPr>
          <p:cNvPr id="85" name="Google Shape;85;p15"/>
          <p:cNvSpPr txBox="1"/>
          <p:nvPr/>
        </p:nvSpPr>
        <p:spPr>
          <a:xfrm>
            <a:off x="2160802" y="1406234"/>
            <a:ext cx="3087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4A5C7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050"/>
          </a:p>
        </p:txBody>
      </p:sp>
      <p:sp>
        <p:nvSpPr>
          <p:cNvPr id="86" name="Google Shape;86;p15"/>
          <p:cNvSpPr/>
          <p:nvPr/>
        </p:nvSpPr>
        <p:spPr>
          <a:xfrm>
            <a:off x="2469488" y="1063251"/>
            <a:ext cx="1852200" cy="1166100"/>
          </a:xfrm>
          <a:prstGeom prst="rect">
            <a:avLst/>
          </a:prstGeom>
          <a:solidFill>
            <a:srgbClr val="E67E22"/>
          </a:solidFill>
          <a:ln>
            <a:noFill/>
          </a:ln>
          <a:effectLst>
            <a:outerShdw blurRad="30007" rotWithShape="0" dir="5400000" dist="17254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5"/>
          <p:cNvSpPr txBox="1"/>
          <p:nvPr/>
        </p:nvSpPr>
        <p:spPr>
          <a:xfrm>
            <a:off x="2538085" y="1097549"/>
            <a:ext cx="17148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FSMR</a:t>
            </a:r>
            <a:endParaRPr sz="1050"/>
          </a:p>
        </p:txBody>
      </p:sp>
      <p:sp>
        <p:nvSpPr>
          <p:cNvPr id="88" name="Google Shape;88;p15"/>
          <p:cNvSpPr txBox="1"/>
          <p:nvPr/>
        </p:nvSpPr>
        <p:spPr>
          <a:xfrm>
            <a:off x="2538085" y="1440533"/>
            <a:ext cx="17148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Failure-mode</a:t>
            </a:r>
            <a:b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state modelling</a:t>
            </a:r>
            <a:b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&amp; reasoning</a:t>
            </a:r>
            <a:endParaRPr sz="1050"/>
          </a:p>
        </p:txBody>
      </p:sp>
      <p:sp>
        <p:nvSpPr>
          <p:cNvPr id="89" name="Google Shape;89;p15"/>
          <p:cNvSpPr txBox="1"/>
          <p:nvPr/>
        </p:nvSpPr>
        <p:spPr>
          <a:xfrm>
            <a:off x="4355902" y="1406234"/>
            <a:ext cx="3087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4A5C7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050"/>
          </a:p>
        </p:txBody>
      </p:sp>
      <p:sp>
        <p:nvSpPr>
          <p:cNvPr id="90" name="Google Shape;90;p15"/>
          <p:cNvSpPr/>
          <p:nvPr/>
        </p:nvSpPr>
        <p:spPr>
          <a:xfrm>
            <a:off x="4664588" y="1063251"/>
            <a:ext cx="1852200" cy="1166100"/>
          </a:xfrm>
          <a:prstGeom prst="rect">
            <a:avLst/>
          </a:prstGeom>
          <a:solidFill>
            <a:srgbClr val="8E44AD"/>
          </a:solidFill>
          <a:ln>
            <a:noFill/>
          </a:ln>
          <a:effectLst>
            <a:outerShdw blurRad="30007" rotWithShape="0" dir="5400000" dist="17254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5"/>
          <p:cNvSpPr txBox="1"/>
          <p:nvPr/>
        </p:nvSpPr>
        <p:spPr>
          <a:xfrm>
            <a:off x="4733185" y="1097549"/>
            <a:ext cx="17148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TSFM</a:t>
            </a:r>
            <a:endParaRPr sz="1050"/>
          </a:p>
        </p:txBody>
      </p:sp>
      <p:sp>
        <p:nvSpPr>
          <p:cNvPr id="92" name="Google Shape;92;p15"/>
          <p:cNvSpPr txBox="1"/>
          <p:nvPr/>
        </p:nvSpPr>
        <p:spPr>
          <a:xfrm>
            <a:off x="4733185" y="1440533"/>
            <a:ext cx="17148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Time-series</a:t>
            </a:r>
            <a:b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forecasting &amp;</a:t>
            </a:r>
            <a:b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anomaly detect</a:t>
            </a:r>
            <a:endParaRPr sz="1050"/>
          </a:p>
        </p:txBody>
      </p:sp>
      <p:sp>
        <p:nvSpPr>
          <p:cNvPr id="93" name="Google Shape;93;p15"/>
          <p:cNvSpPr txBox="1"/>
          <p:nvPr/>
        </p:nvSpPr>
        <p:spPr>
          <a:xfrm>
            <a:off x="6551002" y="1406234"/>
            <a:ext cx="3087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4A5C7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050"/>
          </a:p>
        </p:txBody>
      </p:sp>
      <p:sp>
        <p:nvSpPr>
          <p:cNvPr id="94" name="Google Shape;94;p15"/>
          <p:cNvSpPr/>
          <p:nvPr/>
        </p:nvSpPr>
        <p:spPr>
          <a:xfrm>
            <a:off x="6859688" y="1063251"/>
            <a:ext cx="1852200" cy="1166100"/>
          </a:xfrm>
          <a:prstGeom prst="rect">
            <a:avLst/>
          </a:prstGeom>
          <a:solidFill>
            <a:srgbClr val="27AE60"/>
          </a:solidFill>
          <a:ln>
            <a:noFill/>
          </a:ln>
          <a:effectLst>
            <a:outerShdw blurRad="30007" rotWithShape="0" dir="5400000" dist="17254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5"/>
          <p:cNvSpPr txBox="1"/>
          <p:nvPr/>
        </p:nvSpPr>
        <p:spPr>
          <a:xfrm>
            <a:off x="6928285" y="1097549"/>
            <a:ext cx="17148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</a:t>
            </a:r>
            <a:endParaRPr sz="1050"/>
          </a:p>
        </p:txBody>
      </p:sp>
      <p:sp>
        <p:nvSpPr>
          <p:cNvPr id="96" name="Google Shape;96;p15"/>
          <p:cNvSpPr txBox="1"/>
          <p:nvPr/>
        </p:nvSpPr>
        <p:spPr>
          <a:xfrm>
            <a:off x="6928285" y="1440533"/>
            <a:ext cx="17148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Work-order</a:t>
            </a:r>
            <a:b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generation &amp;</a:t>
            </a:r>
            <a:b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execution</a:t>
            </a:r>
            <a:endParaRPr sz="1050"/>
          </a:p>
        </p:txBody>
      </p:sp>
      <p:sp>
        <p:nvSpPr>
          <p:cNvPr id="97" name="Google Shape;97;p15"/>
          <p:cNvSpPr/>
          <p:nvPr/>
        </p:nvSpPr>
        <p:spPr>
          <a:xfrm>
            <a:off x="274388" y="2435187"/>
            <a:ext cx="8574600" cy="4110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30007" rotWithShape="0" dir="5400000" dist="17254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5"/>
          <p:cNvSpPr txBox="1"/>
          <p:nvPr/>
        </p:nvSpPr>
        <p:spPr>
          <a:xfrm>
            <a:off x="274388" y="2538082"/>
            <a:ext cx="34299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75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Each step in the trajectory</a:t>
            </a:r>
            <a:endParaRPr sz="1050"/>
          </a:p>
        </p:txBody>
      </p:sp>
      <p:sp>
        <p:nvSpPr>
          <p:cNvPr id="99" name="Google Shape;99;p15"/>
          <p:cNvSpPr/>
          <p:nvPr/>
        </p:nvSpPr>
        <p:spPr>
          <a:xfrm>
            <a:off x="274388" y="2846768"/>
            <a:ext cx="2538300" cy="754500"/>
          </a:xfrm>
          <a:prstGeom prst="rect">
            <a:avLst/>
          </a:prstGeom>
          <a:solidFill>
            <a:srgbClr val="D6EAFF"/>
          </a:solidFill>
          <a:ln>
            <a:noFill/>
          </a:ln>
          <a:effectLst>
            <a:outerShdw blurRad="30007" rotWithShape="0" dir="5400000" dist="17254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5"/>
          <p:cNvSpPr txBox="1"/>
          <p:nvPr/>
        </p:nvSpPr>
        <p:spPr>
          <a:xfrm>
            <a:off x="342984" y="2881066"/>
            <a:ext cx="2400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25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Thought</a:t>
            </a:r>
            <a:br>
              <a:rPr b="1" i="0" lang="en" sz="1125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1125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(reasoning)</a:t>
            </a:r>
            <a:endParaRPr sz="1050"/>
          </a:p>
        </p:txBody>
      </p:sp>
      <p:sp>
        <p:nvSpPr>
          <p:cNvPr id="101" name="Google Shape;101;p15"/>
          <p:cNvSpPr txBox="1"/>
          <p:nvPr/>
        </p:nvSpPr>
        <p:spPr>
          <a:xfrm>
            <a:off x="2846770" y="3086857"/>
            <a:ext cx="3087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4A5C7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050"/>
          </a:p>
        </p:txBody>
      </p:sp>
      <p:sp>
        <p:nvSpPr>
          <p:cNvPr id="102" name="Google Shape;102;p15"/>
          <p:cNvSpPr/>
          <p:nvPr/>
        </p:nvSpPr>
        <p:spPr>
          <a:xfrm>
            <a:off x="3155456" y="2846768"/>
            <a:ext cx="2538300" cy="754500"/>
          </a:xfrm>
          <a:prstGeom prst="rect">
            <a:avLst/>
          </a:prstGeom>
          <a:solidFill>
            <a:srgbClr val="D6F5E0"/>
          </a:solidFill>
          <a:ln>
            <a:noFill/>
          </a:ln>
          <a:effectLst>
            <a:outerShdw blurRad="30007" rotWithShape="0" dir="5400000" dist="17254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/>
          <p:cNvSpPr txBox="1"/>
          <p:nvPr/>
        </p:nvSpPr>
        <p:spPr>
          <a:xfrm>
            <a:off x="3224053" y="2881066"/>
            <a:ext cx="2400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25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Action</a:t>
            </a:r>
            <a:br>
              <a:rPr b="1" i="0" lang="en" sz="1125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1125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(tool call)</a:t>
            </a:r>
            <a:endParaRPr sz="1050"/>
          </a:p>
        </p:txBody>
      </p:sp>
      <p:sp>
        <p:nvSpPr>
          <p:cNvPr id="104" name="Google Shape;104;p15"/>
          <p:cNvSpPr txBox="1"/>
          <p:nvPr/>
        </p:nvSpPr>
        <p:spPr>
          <a:xfrm>
            <a:off x="5727839" y="3086857"/>
            <a:ext cx="3087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4A5C7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050"/>
          </a:p>
        </p:txBody>
      </p:sp>
      <p:sp>
        <p:nvSpPr>
          <p:cNvPr id="105" name="Google Shape;105;p15"/>
          <p:cNvSpPr/>
          <p:nvPr/>
        </p:nvSpPr>
        <p:spPr>
          <a:xfrm>
            <a:off x="6036525" y="2846768"/>
            <a:ext cx="2538300" cy="754500"/>
          </a:xfrm>
          <a:prstGeom prst="rect">
            <a:avLst/>
          </a:prstGeom>
          <a:solidFill>
            <a:srgbClr val="FFEDD6"/>
          </a:solidFill>
          <a:ln>
            <a:noFill/>
          </a:ln>
          <a:effectLst>
            <a:outerShdw blurRad="30007" rotWithShape="0" dir="5400000" dist="17254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6105122" y="2881066"/>
            <a:ext cx="2400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25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Observation</a:t>
            </a:r>
            <a:br>
              <a:rPr b="1" i="0" lang="en" sz="1125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1125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(tool return)</a:t>
            </a:r>
            <a:endParaRPr sz="1050"/>
          </a:p>
        </p:txBody>
      </p:sp>
      <p:sp>
        <p:nvSpPr>
          <p:cNvPr id="107" name="Google Shape;107;p15"/>
          <p:cNvSpPr txBox="1"/>
          <p:nvPr/>
        </p:nvSpPr>
        <p:spPr>
          <a:xfrm>
            <a:off x="274388" y="3807123"/>
            <a:ext cx="5487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5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42 industrial tasks across 4 domains:</a:t>
            </a:r>
            <a:endParaRPr sz="1050"/>
          </a:p>
        </p:txBody>
      </p:sp>
      <p:sp>
        <p:nvSpPr>
          <p:cNvPr id="108" name="Google Shape;108;p15"/>
          <p:cNvSpPr txBox="1"/>
          <p:nvPr/>
        </p:nvSpPr>
        <p:spPr>
          <a:xfrm>
            <a:off x="274388" y="4116036"/>
            <a:ext cx="8574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50" u="none" cap="none" strike="noStrike">
                <a:solidFill>
                  <a:srgbClr val="4A5C70"/>
                </a:solidFill>
                <a:latin typeface="Calibri"/>
                <a:ea typeface="Calibri"/>
                <a:cs typeface="Calibri"/>
                <a:sym typeface="Calibri"/>
              </a:rPr>
              <a:t>Sensor retrieval  ·  Anomaly detection  ·  Failure-mode identification  ·  Work-order generation</a:t>
            </a:r>
            <a:endParaRPr sz="10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/>
          <p:nvPr/>
        </p:nvSpPr>
        <p:spPr>
          <a:xfrm>
            <a:off x="283525" y="1428422"/>
            <a:ext cx="4421100" cy="27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13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Problem </a:t>
            </a:r>
            <a:r>
              <a:rPr b="1" lang="en" sz="1813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i="0" lang="en" sz="1813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tatement</a:t>
            </a:r>
            <a:endParaRPr sz="1319"/>
          </a:p>
          <a:p>
            <a:pPr indent="-296636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71"/>
              <a:buChar char="●"/>
            </a:pPr>
            <a:r>
              <a:rPr lang="en" sz="1071"/>
              <a:t>LLMs are increasingly deployed not as chatbots but as autonomous agents — reasoning over multi-step workflows, calling tools, and making decisions in high-stakes environments like industrial monitoring</a:t>
            </a:r>
            <a:endParaRPr sz="1071"/>
          </a:p>
          <a:p>
            <a:pPr indent="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71"/>
          </a:p>
          <a:p>
            <a:pPr indent="-296636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71"/>
              <a:buChar char="●"/>
            </a:pPr>
            <a:r>
              <a:rPr lang="en" sz="1071"/>
              <a:t>With that autonomy comes a new class of failure: hallucination that occurs mid-trace, not just in the final answer</a:t>
            </a:r>
            <a:br>
              <a:rPr lang="en" sz="1071"/>
            </a:br>
            <a:endParaRPr sz="1071"/>
          </a:p>
          <a:p>
            <a:pPr indent="-296636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71"/>
              <a:buChar char="●"/>
            </a:pPr>
            <a:r>
              <a:rPr lang="en" sz="1071"/>
              <a:t>In a Thought → Action → Observation loop, a hallucination might be a skipped diagnostic step, a reference to something that never happened, or an action that violates safety constraints</a:t>
            </a:r>
            <a:endParaRPr sz="1071"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71"/>
          </a:p>
        </p:txBody>
      </p:sp>
      <p:sp>
        <p:nvSpPr>
          <p:cNvPr id="114" name="Google Shape;114;p16"/>
          <p:cNvSpPr/>
          <p:nvPr/>
        </p:nvSpPr>
        <p:spPr>
          <a:xfrm>
            <a:off x="0" y="0"/>
            <a:ext cx="9144000" cy="118860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6"/>
          <p:cNvSpPr txBox="1"/>
          <p:nvPr/>
        </p:nvSpPr>
        <p:spPr>
          <a:xfrm>
            <a:off x="283535" y="226590"/>
            <a:ext cx="8860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Motivation and Problem Statement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283529" y="749800"/>
            <a:ext cx="6804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The gap between output-only and trajectory-aware evaluation</a:t>
            </a:r>
            <a:endParaRPr sz="1200">
              <a:solidFill>
                <a:srgbClr val="F5A62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6"/>
          <p:cNvSpPr txBox="1"/>
          <p:nvPr/>
        </p:nvSpPr>
        <p:spPr>
          <a:xfrm>
            <a:off x="4610325" y="1741147"/>
            <a:ext cx="4421100" cy="24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845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Current benchmarks miss all of this — they treat every task as an isolated input → output pair and never look inside the trace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This makes it nearly impossible to diagnose </a:t>
            </a:r>
            <a:r>
              <a:rPr i="1" lang="en" sz="1100">
                <a:solidFill>
                  <a:schemeClr val="dk1"/>
                </a:solidFill>
              </a:rPr>
              <a:t>why</a:t>
            </a:r>
            <a:r>
              <a:rPr lang="en" sz="1100">
                <a:solidFill>
                  <a:schemeClr val="dk1"/>
                </a:solidFill>
              </a:rPr>
              <a:t> a system failed: did it misunderstand the environment, or did it invent a state that didn't exist?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Goal:</a:t>
            </a:r>
            <a:r>
              <a:rPr lang="en" sz="1100">
                <a:solidFill>
                  <a:schemeClr val="dk1"/>
                </a:solidFill>
              </a:rPr>
              <a:t> Move evaluation from post-hoc output checking to trajectory-aware auditing — classifying what kind of hallucination occurred, where in the trace it started, and which signals can detect it in real time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7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7"/>
          <p:cNvSpPr/>
          <p:nvPr/>
        </p:nvSpPr>
        <p:spPr>
          <a:xfrm>
            <a:off x="0" y="0"/>
            <a:ext cx="9144000" cy="89160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30007" rotWithShape="0" dir="5400000" dist="17254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7"/>
          <p:cNvSpPr txBox="1"/>
          <p:nvPr/>
        </p:nvSpPr>
        <p:spPr>
          <a:xfrm>
            <a:off x="274388" y="68597"/>
            <a:ext cx="8574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is Trajectory-Level Hallucination?</a:t>
            </a:r>
            <a:endParaRPr sz="2400"/>
          </a:p>
        </p:txBody>
      </p:sp>
      <p:sp>
        <p:nvSpPr>
          <p:cNvPr id="124" name="Google Shape;124;p17"/>
          <p:cNvSpPr txBox="1"/>
          <p:nvPr/>
        </p:nvSpPr>
        <p:spPr>
          <a:xfrm>
            <a:off x="274388" y="562495"/>
            <a:ext cx="8574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A structural deviation from evidence — not just a wrong final answer</a:t>
            </a:r>
            <a:endParaRPr sz="1200"/>
          </a:p>
        </p:txBody>
      </p:sp>
      <p:sp>
        <p:nvSpPr>
          <p:cNvPr id="125" name="Google Shape;125;p17"/>
          <p:cNvSpPr txBox="1"/>
          <p:nvPr/>
        </p:nvSpPr>
        <p:spPr>
          <a:xfrm>
            <a:off x="274388" y="1028954"/>
            <a:ext cx="61737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25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Formal definition</a:t>
            </a:r>
            <a:endParaRPr sz="1050"/>
          </a:p>
        </p:txBody>
      </p:sp>
      <p:sp>
        <p:nvSpPr>
          <p:cNvPr id="126" name="Google Shape;126;p17"/>
          <p:cNvSpPr/>
          <p:nvPr/>
        </p:nvSpPr>
        <p:spPr>
          <a:xfrm>
            <a:off x="274388" y="1303342"/>
            <a:ext cx="8574600" cy="617400"/>
          </a:xfrm>
          <a:prstGeom prst="rect">
            <a:avLst/>
          </a:prstGeom>
          <a:solidFill>
            <a:srgbClr val="F0F2F5"/>
          </a:solidFill>
          <a:ln>
            <a:noFill/>
          </a:ln>
          <a:effectLst>
            <a:outerShdw blurRad="30007" rotWithShape="0" dir="5400000" dist="17254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7"/>
          <p:cNvSpPr txBox="1"/>
          <p:nvPr/>
        </p:nvSpPr>
        <p:spPr>
          <a:xfrm>
            <a:off x="411581" y="1337640"/>
            <a:ext cx="83004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75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h(gₜ | Eₜ, K, aₜ) = 1   iff   gₜ ⊭ Eₜ  OR  gₜ ⊭ K  OR  gₜ ⊭ role(aₜ)</a:t>
            </a:r>
            <a:br>
              <a:rPr b="0" i="0" lang="en" sz="975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975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where gₜ ∈ {thought, action},  Eₜ = prior observations,  K = task spec,  role(aₜ) = agent mandate</a:t>
            </a:r>
            <a:endParaRPr sz="1050"/>
          </a:p>
        </p:txBody>
      </p:sp>
      <p:sp>
        <p:nvSpPr>
          <p:cNvPr id="128" name="Google Shape;128;p17"/>
          <p:cNvSpPr txBox="1"/>
          <p:nvPr/>
        </p:nvSpPr>
        <p:spPr>
          <a:xfrm>
            <a:off x="274388" y="2092206"/>
            <a:ext cx="6173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5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Concrete example (UID: Model_7_Q_509)</a:t>
            </a:r>
            <a:endParaRPr sz="1050"/>
          </a:p>
        </p:txBody>
      </p:sp>
      <p:sp>
        <p:nvSpPr>
          <p:cNvPr id="129" name="Google Shape;129;p17"/>
          <p:cNvSpPr txBox="1"/>
          <p:nvPr/>
        </p:nvSpPr>
        <p:spPr>
          <a:xfrm>
            <a:off x="274388" y="2366594"/>
            <a:ext cx="82317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75" u="none" cap="none" strike="noStrike">
                <a:solidFill>
                  <a:srgbClr val="4A5C70"/>
                </a:solidFill>
                <a:latin typeface="Calibri"/>
                <a:ea typeface="Calibri"/>
                <a:cs typeface="Calibri"/>
                <a:sym typeface="Calibri"/>
              </a:rPr>
              <a:t>Task: detect anomalies in Chiller 6's Condenser Water Flow</a:t>
            </a:r>
            <a:endParaRPr sz="1050"/>
          </a:p>
        </p:txBody>
      </p:sp>
      <p:sp>
        <p:nvSpPr>
          <p:cNvPr id="130" name="Google Shape;130;p17"/>
          <p:cNvSpPr/>
          <p:nvPr/>
        </p:nvSpPr>
        <p:spPr>
          <a:xfrm>
            <a:off x="240089" y="2709579"/>
            <a:ext cx="1955100" cy="1063200"/>
          </a:xfrm>
          <a:prstGeom prst="rect">
            <a:avLst/>
          </a:prstGeom>
          <a:solidFill>
            <a:srgbClr val="27AE60"/>
          </a:solidFill>
          <a:ln>
            <a:noFill/>
          </a:ln>
          <a:effectLst>
            <a:outerShdw blurRad="30007" rotWithShape="0" dir="5400000" dist="17254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308685" y="2743877"/>
            <a:ext cx="18177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1</a:t>
            </a:r>
            <a:br>
              <a:rPr b="1" i="0" lang="en" sz="9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9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IoT</a:t>
            </a:r>
            <a:endParaRPr sz="1050"/>
          </a:p>
        </p:txBody>
      </p:sp>
      <p:sp>
        <p:nvSpPr>
          <p:cNvPr id="132" name="Google Shape;132;p17"/>
          <p:cNvSpPr txBox="1"/>
          <p:nvPr/>
        </p:nvSpPr>
        <p:spPr>
          <a:xfrm>
            <a:off x="308685" y="3086862"/>
            <a:ext cx="18177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2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Downloads sensor history</a:t>
            </a:r>
            <a:br>
              <a:rPr b="0" i="0" lang="en" sz="82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82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 Chiller 6</a:t>
            </a:r>
            <a:endParaRPr sz="1050"/>
          </a:p>
        </p:txBody>
      </p:sp>
      <p:sp>
        <p:nvSpPr>
          <p:cNvPr id="133" name="Google Shape;133;p17"/>
          <p:cNvSpPr txBox="1"/>
          <p:nvPr/>
        </p:nvSpPr>
        <p:spPr>
          <a:xfrm>
            <a:off x="240089" y="3772831"/>
            <a:ext cx="20580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25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✓ Correct</a:t>
            </a:r>
            <a:endParaRPr sz="1050"/>
          </a:p>
        </p:txBody>
      </p:sp>
      <p:sp>
        <p:nvSpPr>
          <p:cNvPr id="134" name="Google Shape;134;p17"/>
          <p:cNvSpPr txBox="1"/>
          <p:nvPr/>
        </p:nvSpPr>
        <p:spPr>
          <a:xfrm>
            <a:off x="2229399" y="3155459"/>
            <a:ext cx="2058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4A5C7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050"/>
          </a:p>
        </p:txBody>
      </p:sp>
      <p:sp>
        <p:nvSpPr>
          <p:cNvPr id="135" name="Google Shape;135;p17"/>
          <p:cNvSpPr/>
          <p:nvPr/>
        </p:nvSpPr>
        <p:spPr>
          <a:xfrm>
            <a:off x="2435189" y="2709579"/>
            <a:ext cx="1955100" cy="1063200"/>
          </a:xfrm>
          <a:prstGeom prst="rect">
            <a:avLst/>
          </a:prstGeom>
          <a:solidFill>
            <a:srgbClr val="27AE60"/>
          </a:solidFill>
          <a:ln>
            <a:noFill/>
          </a:ln>
          <a:effectLst>
            <a:outerShdw blurRad="30007" rotWithShape="0" dir="5400000" dist="17254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2503786" y="2743877"/>
            <a:ext cx="18177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2</a:t>
            </a:r>
            <a:br>
              <a:rPr b="1" i="0" lang="en" sz="9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9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IoT</a:t>
            </a:r>
            <a:endParaRPr sz="1050"/>
          </a:p>
        </p:txBody>
      </p:sp>
      <p:sp>
        <p:nvSpPr>
          <p:cNvPr id="137" name="Google Shape;137;p17"/>
          <p:cNvSpPr txBox="1"/>
          <p:nvPr/>
        </p:nvSpPr>
        <p:spPr>
          <a:xfrm>
            <a:off x="2503786" y="3086862"/>
            <a:ext cx="18177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2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Lists sensor properties;</a:t>
            </a:r>
            <a:br>
              <a:rPr b="0" i="0" lang="en" sz="82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82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confirms CWF present</a:t>
            </a:r>
            <a:endParaRPr sz="1050"/>
          </a:p>
        </p:txBody>
      </p:sp>
      <p:sp>
        <p:nvSpPr>
          <p:cNvPr id="138" name="Google Shape;138;p17"/>
          <p:cNvSpPr txBox="1"/>
          <p:nvPr/>
        </p:nvSpPr>
        <p:spPr>
          <a:xfrm>
            <a:off x="2435189" y="3772831"/>
            <a:ext cx="20580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25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✓ Correct</a:t>
            </a:r>
            <a:endParaRPr sz="1050"/>
          </a:p>
        </p:txBody>
      </p:sp>
      <p:sp>
        <p:nvSpPr>
          <p:cNvPr id="139" name="Google Shape;139;p17"/>
          <p:cNvSpPr txBox="1"/>
          <p:nvPr/>
        </p:nvSpPr>
        <p:spPr>
          <a:xfrm>
            <a:off x="4424499" y="3155459"/>
            <a:ext cx="2058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4A5C7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050"/>
          </a:p>
        </p:txBody>
      </p:sp>
      <p:sp>
        <p:nvSpPr>
          <p:cNvPr id="140" name="Google Shape;140;p17"/>
          <p:cNvSpPr/>
          <p:nvPr/>
        </p:nvSpPr>
        <p:spPr>
          <a:xfrm>
            <a:off x="4630289" y="2709579"/>
            <a:ext cx="1955100" cy="1063200"/>
          </a:xfrm>
          <a:prstGeom prst="rect">
            <a:avLst/>
          </a:prstGeom>
          <a:solidFill>
            <a:srgbClr val="E74C3C"/>
          </a:solidFill>
          <a:ln>
            <a:noFill/>
          </a:ln>
          <a:effectLst>
            <a:outerShdw blurRad="30007" rotWithShape="0" dir="5400000" dist="17254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 txBox="1"/>
          <p:nvPr/>
        </p:nvSpPr>
        <p:spPr>
          <a:xfrm>
            <a:off x="4698886" y="2743877"/>
            <a:ext cx="18177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3</a:t>
            </a:r>
            <a:br>
              <a:rPr b="1" i="0" lang="en" sz="9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9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TSFM</a:t>
            </a:r>
            <a:endParaRPr sz="1050"/>
          </a:p>
        </p:txBody>
      </p:sp>
      <p:sp>
        <p:nvSpPr>
          <p:cNvPr id="142" name="Google Shape;142;p17"/>
          <p:cNvSpPr txBox="1"/>
          <p:nvPr/>
        </p:nvSpPr>
        <p:spPr>
          <a:xfrm>
            <a:off x="4698886" y="3086862"/>
            <a:ext cx="18177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2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Calls tsfm_anomaly_detect(…)</a:t>
            </a:r>
            <a:br>
              <a:rPr b="0" i="0" lang="en" sz="82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82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observation: ""  ← empty!</a:t>
            </a:r>
            <a:endParaRPr sz="1050"/>
          </a:p>
        </p:txBody>
      </p:sp>
      <p:sp>
        <p:nvSpPr>
          <p:cNvPr id="143" name="Google Shape;143;p17"/>
          <p:cNvSpPr txBox="1"/>
          <p:nvPr/>
        </p:nvSpPr>
        <p:spPr>
          <a:xfrm>
            <a:off x="4630289" y="3772831"/>
            <a:ext cx="20580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25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✗ Tool fails silently</a:t>
            </a:r>
            <a:endParaRPr sz="1050"/>
          </a:p>
        </p:txBody>
      </p:sp>
      <p:sp>
        <p:nvSpPr>
          <p:cNvPr id="144" name="Google Shape;144;p17"/>
          <p:cNvSpPr txBox="1"/>
          <p:nvPr/>
        </p:nvSpPr>
        <p:spPr>
          <a:xfrm>
            <a:off x="6619599" y="3155459"/>
            <a:ext cx="2058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4A5C7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050"/>
          </a:p>
        </p:txBody>
      </p:sp>
      <p:sp>
        <p:nvSpPr>
          <p:cNvPr id="145" name="Google Shape;145;p17"/>
          <p:cNvSpPr/>
          <p:nvPr/>
        </p:nvSpPr>
        <p:spPr>
          <a:xfrm>
            <a:off x="6825389" y="2709579"/>
            <a:ext cx="1955100" cy="1063200"/>
          </a:xfrm>
          <a:prstGeom prst="rect">
            <a:avLst/>
          </a:prstGeom>
          <a:solidFill>
            <a:srgbClr val="E74C3C"/>
          </a:solidFill>
          <a:ln>
            <a:noFill/>
          </a:ln>
          <a:effectLst>
            <a:outerShdw blurRad="30007" rotWithShape="0" dir="5400000" dist="17254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 txBox="1"/>
          <p:nvPr/>
        </p:nvSpPr>
        <p:spPr>
          <a:xfrm>
            <a:off x="6893986" y="2743877"/>
            <a:ext cx="18177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4</a:t>
            </a:r>
            <a:br>
              <a:rPr b="1" i="0" lang="en" sz="9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9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Summary</a:t>
            </a:r>
            <a:endParaRPr sz="1050"/>
          </a:p>
        </p:txBody>
      </p:sp>
      <p:sp>
        <p:nvSpPr>
          <p:cNvPr id="147" name="Google Shape;147;p17"/>
          <p:cNvSpPr txBox="1"/>
          <p:nvPr/>
        </p:nvSpPr>
        <p:spPr>
          <a:xfrm>
            <a:off x="6893986" y="3086862"/>
            <a:ext cx="18177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2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"Yes, anomalies detected</a:t>
            </a:r>
            <a:br>
              <a:rPr b="0" i="0" lang="en" sz="82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82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 Chiller 6…"  ← fabricated!</a:t>
            </a:r>
            <a:endParaRPr sz="1050"/>
          </a:p>
        </p:txBody>
      </p:sp>
      <p:sp>
        <p:nvSpPr>
          <p:cNvPr id="148" name="Google Shape;148;p17"/>
          <p:cNvSpPr txBox="1"/>
          <p:nvPr/>
        </p:nvSpPr>
        <p:spPr>
          <a:xfrm>
            <a:off x="6825389" y="3772831"/>
            <a:ext cx="20580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25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✗ HALLUCINATION</a:t>
            </a:r>
            <a:endParaRPr sz="1050"/>
          </a:p>
        </p:txBody>
      </p:sp>
      <p:sp>
        <p:nvSpPr>
          <p:cNvPr id="149" name="Google Shape;149;p17"/>
          <p:cNvSpPr/>
          <p:nvPr/>
        </p:nvSpPr>
        <p:spPr>
          <a:xfrm>
            <a:off x="274388" y="4150114"/>
            <a:ext cx="8574600" cy="720300"/>
          </a:xfrm>
          <a:prstGeom prst="rect">
            <a:avLst/>
          </a:prstGeom>
          <a:solidFill>
            <a:srgbClr val="FFEBEE"/>
          </a:solidFill>
          <a:ln>
            <a:noFill/>
          </a:ln>
          <a:effectLst>
            <a:outerShdw blurRad="30007" rotWithShape="0" dir="5400000" dist="17254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 txBox="1"/>
          <p:nvPr/>
        </p:nvSpPr>
        <p:spPr>
          <a:xfrm>
            <a:off x="411581" y="4184413"/>
            <a:ext cx="83004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75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Post-hoc evaluation sees only "Yes, anomalies detected" — looks fine.</a:t>
            </a:r>
            <a:br>
              <a:rPr b="0" i="0" lang="en" sz="975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975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Only trajectory-level analysis reveals the empty observation in Step 3 was never acted upon.</a:t>
            </a:r>
            <a:endParaRPr sz="10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8"/>
          <p:cNvSpPr/>
          <p:nvPr/>
        </p:nvSpPr>
        <p:spPr>
          <a:xfrm>
            <a:off x="0" y="0"/>
            <a:ext cx="9144000" cy="89160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30007" rotWithShape="0" dir="5400000" dist="17254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 txBox="1"/>
          <p:nvPr/>
        </p:nvSpPr>
        <p:spPr>
          <a:xfrm>
            <a:off x="274388" y="68597"/>
            <a:ext cx="8574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5-Type Hallucination Taxonomy</a:t>
            </a:r>
            <a:endParaRPr sz="2400"/>
          </a:p>
        </p:txBody>
      </p:sp>
      <p:sp>
        <p:nvSpPr>
          <p:cNvPr id="157" name="Google Shape;157;p18"/>
          <p:cNvSpPr txBox="1"/>
          <p:nvPr/>
        </p:nvSpPr>
        <p:spPr>
          <a:xfrm>
            <a:off x="274388" y="562494"/>
            <a:ext cx="8574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Each type is a structural predicate over the Thought–Action–Observation trace</a:t>
            </a:r>
            <a:endParaRPr sz="1200"/>
          </a:p>
        </p:txBody>
      </p:sp>
      <p:sp>
        <p:nvSpPr>
          <p:cNvPr id="158" name="Google Shape;158;p18"/>
          <p:cNvSpPr/>
          <p:nvPr/>
        </p:nvSpPr>
        <p:spPr>
          <a:xfrm>
            <a:off x="240089" y="1028952"/>
            <a:ext cx="2675100" cy="1577700"/>
          </a:xfrm>
          <a:prstGeom prst="rect">
            <a:avLst/>
          </a:prstGeom>
          <a:solidFill>
            <a:srgbClr val="1F6FEB"/>
          </a:solidFill>
          <a:ln>
            <a:noFill/>
          </a:ln>
          <a:effectLst>
            <a:outerShdw blurRad="30007" rotWithShape="0" dir="5400000" dist="17254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 txBox="1"/>
          <p:nvPr/>
        </p:nvSpPr>
        <p:spPr>
          <a:xfrm>
            <a:off x="308685" y="1063250"/>
            <a:ext cx="253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Factual</a:t>
            </a:r>
            <a:br>
              <a:rPr b="1" i="0" lang="en" sz="12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12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hᶠ</a:t>
            </a:r>
            <a:endParaRPr sz="1050"/>
          </a:p>
        </p:txBody>
      </p:sp>
      <p:sp>
        <p:nvSpPr>
          <p:cNvPr id="160" name="Google Shape;160;p18"/>
          <p:cNvSpPr txBox="1"/>
          <p:nvPr/>
        </p:nvSpPr>
        <p:spPr>
          <a:xfrm>
            <a:off x="308685" y="1426813"/>
            <a:ext cx="25383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2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Asserts a claim contradicted by ground-truth data.</a:t>
            </a:r>
            <a:br>
              <a:rPr b="0" i="0" lang="en" sz="82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82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Detectable from a single step in isolation.</a:t>
            </a:r>
            <a:endParaRPr sz="1050"/>
          </a:p>
        </p:txBody>
      </p:sp>
      <p:sp>
        <p:nvSpPr>
          <p:cNvPr id="161" name="Google Shape;161;p18"/>
          <p:cNvSpPr/>
          <p:nvPr/>
        </p:nvSpPr>
        <p:spPr>
          <a:xfrm>
            <a:off x="308685" y="2092202"/>
            <a:ext cx="2538300" cy="4458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30007" rotWithShape="0" dir="5400000" dist="17254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 txBox="1"/>
          <p:nvPr/>
        </p:nvSpPr>
        <p:spPr>
          <a:xfrm>
            <a:off x="342984" y="2112781"/>
            <a:ext cx="2469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e.g.  Agent reports temp = 52°C; sensor reads 32°C</a:t>
            </a:r>
            <a:endParaRPr sz="1050"/>
          </a:p>
        </p:txBody>
      </p:sp>
      <p:sp>
        <p:nvSpPr>
          <p:cNvPr id="163" name="Google Shape;163;p18"/>
          <p:cNvSpPr/>
          <p:nvPr/>
        </p:nvSpPr>
        <p:spPr>
          <a:xfrm>
            <a:off x="3224053" y="1028952"/>
            <a:ext cx="2675100" cy="1577700"/>
          </a:xfrm>
          <a:prstGeom prst="rect">
            <a:avLst/>
          </a:prstGeom>
          <a:solidFill>
            <a:srgbClr val="E67E22"/>
          </a:solidFill>
          <a:ln>
            <a:noFill/>
          </a:ln>
          <a:effectLst>
            <a:outerShdw blurRad="30007" rotWithShape="0" dir="5400000" dist="17254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 txBox="1"/>
          <p:nvPr/>
        </p:nvSpPr>
        <p:spPr>
          <a:xfrm>
            <a:off x="3292649" y="1063250"/>
            <a:ext cx="253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Referential</a:t>
            </a:r>
            <a:br>
              <a:rPr b="1" i="0" lang="en" sz="12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12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hᴿ</a:t>
            </a:r>
            <a:endParaRPr sz="1050"/>
          </a:p>
        </p:txBody>
      </p:sp>
      <p:sp>
        <p:nvSpPr>
          <p:cNvPr id="165" name="Google Shape;165;p18"/>
          <p:cNvSpPr txBox="1"/>
          <p:nvPr/>
        </p:nvSpPr>
        <p:spPr>
          <a:xfrm>
            <a:off x="3292649" y="1426813"/>
            <a:ext cx="25383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2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References an entity or prior result absent from trace history.</a:t>
            </a:r>
            <a:br>
              <a:rPr b="0" i="0" lang="en" sz="82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82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'remembers' something that never happened.</a:t>
            </a:r>
            <a:endParaRPr sz="1050"/>
          </a:p>
        </p:txBody>
      </p:sp>
      <p:sp>
        <p:nvSpPr>
          <p:cNvPr id="166" name="Google Shape;166;p18"/>
          <p:cNvSpPr/>
          <p:nvPr/>
        </p:nvSpPr>
        <p:spPr>
          <a:xfrm>
            <a:off x="3292649" y="2092202"/>
            <a:ext cx="2538300" cy="4458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30007" rotWithShape="0" dir="5400000" dist="17254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 txBox="1"/>
          <p:nvPr/>
        </p:nvSpPr>
        <p:spPr>
          <a:xfrm>
            <a:off x="3326949" y="2112781"/>
            <a:ext cx="2469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e.g.  "As computed in Step 2..." — but Step 2 had no output</a:t>
            </a:r>
            <a:endParaRPr sz="1050"/>
          </a:p>
        </p:txBody>
      </p:sp>
      <p:sp>
        <p:nvSpPr>
          <p:cNvPr id="168" name="Google Shape;168;p18"/>
          <p:cNvSpPr/>
          <p:nvPr/>
        </p:nvSpPr>
        <p:spPr>
          <a:xfrm>
            <a:off x="6208017" y="1028952"/>
            <a:ext cx="2675100" cy="1577700"/>
          </a:xfrm>
          <a:prstGeom prst="rect">
            <a:avLst/>
          </a:prstGeom>
          <a:solidFill>
            <a:srgbClr val="8E44AD"/>
          </a:solidFill>
          <a:ln>
            <a:noFill/>
          </a:ln>
          <a:effectLst>
            <a:outerShdw blurRad="30007" rotWithShape="0" dir="5400000" dist="17254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 txBox="1"/>
          <p:nvPr/>
        </p:nvSpPr>
        <p:spPr>
          <a:xfrm>
            <a:off x="6276614" y="1063250"/>
            <a:ext cx="253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Logical</a:t>
            </a:r>
            <a:br>
              <a:rPr b="1" i="0" lang="en" sz="12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12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hᴸ</a:t>
            </a:r>
            <a:endParaRPr sz="1050"/>
          </a:p>
        </p:txBody>
      </p:sp>
      <p:sp>
        <p:nvSpPr>
          <p:cNvPr id="170" name="Google Shape;170;p18"/>
          <p:cNvSpPr txBox="1"/>
          <p:nvPr/>
        </p:nvSpPr>
        <p:spPr>
          <a:xfrm>
            <a:off x="6276614" y="1426813"/>
            <a:ext cx="25383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2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Reasoning doesn't follow from its premises, even when premises are correct.</a:t>
            </a:r>
            <a:br>
              <a:rPr b="0" i="0" lang="en" sz="82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82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Broken inference chain.</a:t>
            </a:r>
            <a:endParaRPr sz="1050"/>
          </a:p>
        </p:txBody>
      </p:sp>
      <p:sp>
        <p:nvSpPr>
          <p:cNvPr id="171" name="Google Shape;171;p18"/>
          <p:cNvSpPr/>
          <p:nvPr/>
        </p:nvSpPr>
        <p:spPr>
          <a:xfrm>
            <a:off x="6276614" y="2092202"/>
            <a:ext cx="2538300" cy="4458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30007" rotWithShape="0" dir="5400000" dist="17254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 txBox="1"/>
          <p:nvPr/>
        </p:nvSpPr>
        <p:spPr>
          <a:xfrm>
            <a:off x="6310913" y="2112781"/>
            <a:ext cx="2469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e.g.  All thresholds exceeded → concludes 'no anomaly'</a:t>
            </a:r>
            <a:endParaRPr sz="1050"/>
          </a:p>
        </p:txBody>
      </p:sp>
      <p:sp>
        <p:nvSpPr>
          <p:cNvPr id="173" name="Google Shape;173;p18"/>
          <p:cNvSpPr/>
          <p:nvPr/>
        </p:nvSpPr>
        <p:spPr>
          <a:xfrm>
            <a:off x="1728641" y="2812467"/>
            <a:ext cx="2675100" cy="1577700"/>
          </a:xfrm>
          <a:prstGeom prst="rect">
            <a:avLst/>
          </a:prstGeom>
          <a:solidFill>
            <a:srgbClr val="E74C3C"/>
          </a:solidFill>
          <a:ln>
            <a:noFill/>
          </a:ln>
          <a:effectLst>
            <a:outerShdw blurRad="30007" rotWithShape="0" dir="5400000" dist="17254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 txBox="1"/>
          <p:nvPr/>
        </p:nvSpPr>
        <p:spPr>
          <a:xfrm>
            <a:off x="1797238" y="2846766"/>
            <a:ext cx="253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Procedural</a:t>
            </a:r>
            <a:br>
              <a:rPr b="1" i="0" lang="en" sz="12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12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hᴾ</a:t>
            </a:r>
            <a:endParaRPr sz="1050"/>
          </a:p>
        </p:txBody>
      </p:sp>
      <p:sp>
        <p:nvSpPr>
          <p:cNvPr id="175" name="Google Shape;175;p18"/>
          <p:cNvSpPr txBox="1"/>
          <p:nvPr/>
        </p:nvSpPr>
        <p:spPr>
          <a:xfrm>
            <a:off x="1797238" y="3210329"/>
            <a:ext cx="25383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2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Skips, reorders, or fabricates a required workflow step.</a:t>
            </a:r>
            <a:br>
              <a:rPr b="0" i="0" lang="en" sz="82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82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Invisible without knowing the prescribed workflow.</a:t>
            </a:r>
            <a:endParaRPr sz="1050"/>
          </a:p>
        </p:txBody>
      </p:sp>
      <p:sp>
        <p:nvSpPr>
          <p:cNvPr id="176" name="Google Shape;176;p18"/>
          <p:cNvSpPr/>
          <p:nvPr/>
        </p:nvSpPr>
        <p:spPr>
          <a:xfrm>
            <a:off x="1797238" y="3875717"/>
            <a:ext cx="2538300" cy="4458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30007" rotWithShape="0" dir="5400000" dist="17254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 txBox="1"/>
          <p:nvPr/>
        </p:nvSpPr>
        <p:spPr>
          <a:xfrm>
            <a:off x="1831537" y="3896297"/>
            <a:ext cx="24696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e.g.  Claims task complete without running anomaly detection</a:t>
            </a:r>
            <a:endParaRPr sz="1050"/>
          </a:p>
        </p:txBody>
      </p:sp>
      <p:sp>
        <p:nvSpPr>
          <p:cNvPr id="178" name="Google Shape;178;p18"/>
          <p:cNvSpPr/>
          <p:nvPr/>
        </p:nvSpPr>
        <p:spPr>
          <a:xfrm>
            <a:off x="4712605" y="2812467"/>
            <a:ext cx="2675100" cy="1577700"/>
          </a:xfrm>
          <a:prstGeom prst="rect">
            <a:avLst/>
          </a:prstGeom>
          <a:solidFill>
            <a:srgbClr val="27AE60"/>
          </a:solidFill>
          <a:ln>
            <a:noFill/>
          </a:ln>
          <a:effectLst>
            <a:outerShdw blurRad="30007" rotWithShape="0" dir="5400000" dist="17254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 txBox="1"/>
          <p:nvPr/>
        </p:nvSpPr>
        <p:spPr>
          <a:xfrm>
            <a:off x="4781202" y="2846766"/>
            <a:ext cx="253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Scope</a:t>
            </a:r>
            <a:br>
              <a:rPr b="1" i="0" lang="en" sz="12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12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hˢ</a:t>
            </a:r>
            <a:endParaRPr sz="1050"/>
          </a:p>
        </p:txBody>
      </p:sp>
      <p:sp>
        <p:nvSpPr>
          <p:cNvPr id="180" name="Google Shape;180;p18"/>
          <p:cNvSpPr txBox="1"/>
          <p:nvPr/>
        </p:nvSpPr>
        <p:spPr>
          <a:xfrm>
            <a:off x="4781202" y="3210329"/>
            <a:ext cx="25383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2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 acts outside its assigned mandate.</a:t>
            </a:r>
            <a:br>
              <a:rPr b="0" i="0" lang="en" sz="82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82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Content may be correct but originates from the wrong agent.</a:t>
            </a:r>
            <a:endParaRPr sz="1050"/>
          </a:p>
        </p:txBody>
      </p:sp>
      <p:sp>
        <p:nvSpPr>
          <p:cNvPr id="181" name="Google Shape;181;p18"/>
          <p:cNvSpPr/>
          <p:nvPr/>
        </p:nvSpPr>
        <p:spPr>
          <a:xfrm>
            <a:off x="4781202" y="3875717"/>
            <a:ext cx="2538300" cy="4458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30007" rotWithShape="0" dir="5400000" dist="17254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 txBox="1"/>
          <p:nvPr/>
        </p:nvSpPr>
        <p:spPr>
          <a:xfrm>
            <a:off x="4815501" y="3896297"/>
            <a:ext cx="2469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e.g.  IoT agent generates a work order (WO agent's job)</a:t>
            </a:r>
            <a:endParaRPr sz="1050"/>
          </a:p>
        </p:txBody>
      </p:sp>
      <p:sp>
        <p:nvSpPr>
          <p:cNvPr id="183" name="Google Shape;183;p18"/>
          <p:cNvSpPr/>
          <p:nvPr/>
        </p:nvSpPr>
        <p:spPr>
          <a:xfrm>
            <a:off x="274388" y="4733178"/>
            <a:ext cx="8574600" cy="342900"/>
          </a:xfrm>
          <a:prstGeom prst="rect">
            <a:avLst/>
          </a:prstGeom>
          <a:solidFill>
            <a:srgbClr val="FFF3CD"/>
          </a:solidFill>
          <a:ln>
            <a:noFill/>
          </a:ln>
          <a:effectLst>
            <a:outerShdw blurRad="30007" rotWithShape="0" dir="5400000" dist="17254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8"/>
          <p:cNvSpPr txBox="1"/>
          <p:nvPr/>
        </p:nvSpPr>
        <p:spPr>
          <a:xfrm>
            <a:off x="411581" y="4746897"/>
            <a:ext cx="83004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75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48.7% of hallucinated trajectories exhibit multiple types simultaneously — single-label evaluation mischaracterises nearly half of all failures.</a:t>
            </a:r>
            <a:endParaRPr sz="10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9"/>
          <p:cNvSpPr/>
          <p:nvPr/>
        </p:nvSpPr>
        <p:spPr>
          <a:xfrm>
            <a:off x="0" y="0"/>
            <a:ext cx="9144000" cy="89160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30007" rotWithShape="0" dir="5400000" dist="17254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 txBox="1"/>
          <p:nvPr/>
        </p:nvSpPr>
        <p:spPr>
          <a:xfrm>
            <a:off x="274388" y="68597"/>
            <a:ext cx="8574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Trajel Dataset</a:t>
            </a:r>
            <a:endParaRPr b="1"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 txBox="1"/>
          <p:nvPr/>
        </p:nvSpPr>
        <p:spPr>
          <a:xfrm>
            <a:off x="274388" y="562494"/>
            <a:ext cx="8574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225 annotated trajectories</a:t>
            </a:r>
            <a:endParaRPr sz="1200">
              <a:solidFill>
                <a:srgbClr val="F5A62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330315" y="1101500"/>
            <a:ext cx="1757400" cy="74370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29570" rotWithShape="0" dir="5400000" dist="17002">
              <a:srgbClr val="000000">
                <a:alpha val="34900"/>
              </a:srgbClr>
            </a:outerShdw>
          </a:effectLst>
        </p:spPr>
        <p:txBody>
          <a:bodyPr anchorCtr="0" anchor="ctr" bIns="33775" lIns="67575" spcFirstLastPara="1" rIns="67575" wrap="square" tIns="33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3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 txBox="1"/>
          <p:nvPr/>
        </p:nvSpPr>
        <p:spPr>
          <a:xfrm>
            <a:off x="397911" y="1135298"/>
            <a:ext cx="1622400" cy="1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3775" lIns="67575" spcFirstLastPara="1" rIns="67575" wrap="square" tIns="337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1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Trajectories</a:t>
            </a:r>
            <a:endParaRPr sz="1035"/>
          </a:p>
        </p:txBody>
      </p:sp>
      <p:sp>
        <p:nvSpPr>
          <p:cNvPr id="194" name="Google Shape;194;p19"/>
          <p:cNvSpPr txBox="1"/>
          <p:nvPr/>
        </p:nvSpPr>
        <p:spPr>
          <a:xfrm>
            <a:off x="397911" y="1338086"/>
            <a:ext cx="16224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3775" lIns="67575" spcFirstLastPara="1" rIns="67575" wrap="square" tIns="337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922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225</a:t>
            </a:r>
            <a:endParaRPr sz="1035"/>
          </a:p>
        </p:txBody>
      </p:sp>
      <p:sp>
        <p:nvSpPr>
          <p:cNvPr id="195" name="Google Shape;195;p19"/>
          <p:cNvSpPr txBox="1"/>
          <p:nvPr/>
        </p:nvSpPr>
        <p:spPr>
          <a:xfrm>
            <a:off x="397911" y="1642267"/>
            <a:ext cx="1622400" cy="1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3775" lIns="67575" spcFirstLastPara="1" rIns="67575" wrap="square" tIns="337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39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annotated</a:t>
            </a:r>
            <a:endParaRPr sz="1035"/>
          </a:p>
        </p:txBody>
      </p:sp>
      <p:sp>
        <p:nvSpPr>
          <p:cNvPr id="196" name="Google Shape;196;p19"/>
          <p:cNvSpPr/>
          <p:nvPr/>
        </p:nvSpPr>
        <p:spPr>
          <a:xfrm>
            <a:off x="2223002" y="1101500"/>
            <a:ext cx="1757400" cy="74370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29570" rotWithShape="0" dir="5400000" dist="17002">
              <a:srgbClr val="000000">
                <a:alpha val="34900"/>
              </a:srgbClr>
            </a:outerShdw>
          </a:effectLst>
        </p:spPr>
        <p:txBody>
          <a:bodyPr anchorCtr="0" anchor="ctr" bIns="33775" lIns="67575" spcFirstLastPara="1" rIns="67575" wrap="square" tIns="33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3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/>
          <p:cNvSpPr txBox="1"/>
          <p:nvPr/>
        </p:nvSpPr>
        <p:spPr>
          <a:xfrm>
            <a:off x="2290598" y="1135298"/>
            <a:ext cx="16224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3775" lIns="67575" spcFirstLastPara="1" rIns="67575" wrap="square" tIns="337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1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</a:t>
            </a:r>
            <a:br>
              <a:rPr b="0" i="0" lang="en" sz="81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81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Configs</a:t>
            </a:r>
            <a:endParaRPr sz="1035"/>
          </a:p>
        </p:txBody>
      </p:sp>
      <p:sp>
        <p:nvSpPr>
          <p:cNvPr id="198" name="Google Shape;198;p19"/>
          <p:cNvSpPr txBox="1"/>
          <p:nvPr/>
        </p:nvSpPr>
        <p:spPr>
          <a:xfrm>
            <a:off x="2290598" y="1338086"/>
            <a:ext cx="16224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3775" lIns="67575" spcFirstLastPara="1" rIns="67575" wrap="square" tIns="337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922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035"/>
          </a:p>
        </p:txBody>
      </p:sp>
      <p:sp>
        <p:nvSpPr>
          <p:cNvPr id="199" name="Google Shape;199;p19"/>
          <p:cNvSpPr txBox="1"/>
          <p:nvPr/>
        </p:nvSpPr>
        <p:spPr>
          <a:xfrm>
            <a:off x="2290598" y="1642267"/>
            <a:ext cx="1622400" cy="1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3775" lIns="67575" spcFirstLastPara="1" rIns="67575" wrap="square" tIns="337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39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models</a:t>
            </a:r>
            <a:endParaRPr sz="1035"/>
          </a:p>
        </p:txBody>
      </p:sp>
      <p:sp>
        <p:nvSpPr>
          <p:cNvPr id="200" name="Google Shape;200;p19"/>
          <p:cNvSpPr/>
          <p:nvPr/>
        </p:nvSpPr>
        <p:spPr>
          <a:xfrm>
            <a:off x="4115689" y="1101500"/>
            <a:ext cx="1757400" cy="74370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29570" rotWithShape="0" dir="5400000" dist="17002">
              <a:srgbClr val="000000">
                <a:alpha val="34900"/>
              </a:srgbClr>
            </a:outerShdw>
          </a:effectLst>
        </p:spPr>
        <p:txBody>
          <a:bodyPr anchorCtr="0" anchor="ctr" bIns="33775" lIns="67575" spcFirstLastPara="1" rIns="67575" wrap="square" tIns="33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3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 txBox="1"/>
          <p:nvPr/>
        </p:nvSpPr>
        <p:spPr>
          <a:xfrm>
            <a:off x="4183285" y="1135298"/>
            <a:ext cx="16224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3775" lIns="67575" spcFirstLastPara="1" rIns="67575" wrap="square" tIns="337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1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Industrial</a:t>
            </a:r>
            <a:br>
              <a:rPr b="0" i="0" lang="en" sz="81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81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Tasks</a:t>
            </a:r>
            <a:endParaRPr sz="1035"/>
          </a:p>
        </p:txBody>
      </p:sp>
      <p:sp>
        <p:nvSpPr>
          <p:cNvPr id="202" name="Google Shape;202;p19"/>
          <p:cNvSpPr txBox="1"/>
          <p:nvPr/>
        </p:nvSpPr>
        <p:spPr>
          <a:xfrm>
            <a:off x="4183285" y="1338086"/>
            <a:ext cx="16224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3775" lIns="67575" spcFirstLastPara="1" rIns="67575" wrap="square" tIns="337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922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42</a:t>
            </a:r>
            <a:endParaRPr sz="1035"/>
          </a:p>
        </p:txBody>
      </p:sp>
      <p:sp>
        <p:nvSpPr>
          <p:cNvPr id="203" name="Google Shape;203;p19"/>
          <p:cNvSpPr txBox="1"/>
          <p:nvPr/>
        </p:nvSpPr>
        <p:spPr>
          <a:xfrm>
            <a:off x="4183285" y="1642267"/>
            <a:ext cx="1622400" cy="1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3775" lIns="67575" spcFirstLastPara="1" rIns="67575" wrap="square" tIns="337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39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questions</a:t>
            </a:r>
            <a:endParaRPr sz="1035"/>
          </a:p>
        </p:txBody>
      </p:sp>
      <p:sp>
        <p:nvSpPr>
          <p:cNvPr id="204" name="Google Shape;204;p19"/>
          <p:cNvSpPr/>
          <p:nvPr/>
        </p:nvSpPr>
        <p:spPr>
          <a:xfrm>
            <a:off x="6008377" y="1101500"/>
            <a:ext cx="1757400" cy="74370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29570" rotWithShape="0" dir="5400000" dist="17002">
              <a:srgbClr val="000000">
                <a:alpha val="34900"/>
              </a:srgbClr>
            </a:outerShdw>
          </a:effectLst>
        </p:spPr>
        <p:txBody>
          <a:bodyPr anchorCtr="0" anchor="ctr" bIns="33775" lIns="67575" spcFirstLastPara="1" rIns="67575" wrap="square" tIns="33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3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9"/>
          <p:cNvSpPr txBox="1"/>
          <p:nvPr/>
        </p:nvSpPr>
        <p:spPr>
          <a:xfrm>
            <a:off x="6075973" y="1135298"/>
            <a:ext cx="16224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3775" lIns="67575" spcFirstLastPara="1" rIns="67575" wrap="square" tIns="337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1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Human Hall.</a:t>
            </a:r>
            <a:br>
              <a:rPr b="0" i="0" lang="en" sz="81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81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Rate</a:t>
            </a:r>
            <a:endParaRPr sz="1035"/>
          </a:p>
        </p:txBody>
      </p:sp>
      <p:sp>
        <p:nvSpPr>
          <p:cNvPr id="206" name="Google Shape;206;p19"/>
          <p:cNvSpPr txBox="1"/>
          <p:nvPr/>
        </p:nvSpPr>
        <p:spPr>
          <a:xfrm>
            <a:off x="6075973" y="1338086"/>
            <a:ext cx="16224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3775" lIns="67575" spcFirstLastPara="1" rIns="67575" wrap="square" tIns="337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922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68.3%</a:t>
            </a:r>
            <a:endParaRPr sz="1035"/>
          </a:p>
        </p:txBody>
      </p:sp>
      <p:sp>
        <p:nvSpPr>
          <p:cNvPr id="207" name="Google Shape;207;p19"/>
          <p:cNvSpPr txBox="1"/>
          <p:nvPr/>
        </p:nvSpPr>
        <p:spPr>
          <a:xfrm>
            <a:off x="6075973" y="1642267"/>
            <a:ext cx="1622400" cy="1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3775" lIns="67575" spcFirstLastPara="1" rIns="67575" wrap="square" tIns="337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39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153/224</a:t>
            </a:r>
            <a:endParaRPr sz="1035"/>
          </a:p>
        </p:txBody>
      </p:sp>
      <p:sp>
        <p:nvSpPr>
          <p:cNvPr id="208" name="Google Shape;208;p19"/>
          <p:cNvSpPr/>
          <p:nvPr/>
        </p:nvSpPr>
        <p:spPr>
          <a:xfrm>
            <a:off x="7698276" y="1101500"/>
            <a:ext cx="1115400" cy="74370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29570" rotWithShape="0" dir="5400000" dist="17002">
              <a:srgbClr val="000000">
                <a:alpha val="34900"/>
              </a:srgbClr>
            </a:outerShdw>
          </a:effectLst>
        </p:spPr>
        <p:txBody>
          <a:bodyPr anchorCtr="0" anchor="ctr" bIns="33775" lIns="67575" spcFirstLastPara="1" rIns="67575" wrap="square" tIns="33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3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9"/>
          <p:cNvSpPr txBox="1"/>
          <p:nvPr/>
        </p:nvSpPr>
        <p:spPr>
          <a:xfrm>
            <a:off x="7765872" y="1135298"/>
            <a:ext cx="9801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3775" lIns="67575" spcFirstLastPara="1" rIns="67575" wrap="square" tIns="337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1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Cohen's κ</a:t>
            </a:r>
            <a:br>
              <a:rPr b="0" i="0" lang="en" sz="81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81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(LLM vs Human)</a:t>
            </a:r>
            <a:endParaRPr sz="1035"/>
          </a:p>
        </p:txBody>
      </p:sp>
      <p:sp>
        <p:nvSpPr>
          <p:cNvPr id="210" name="Google Shape;210;p19"/>
          <p:cNvSpPr txBox="1"/>
          <p:nvPr/>
        </p:nvSpPr>
        <p:spPr>
          <a:xfrm>
            <a:off x="7765872" y="1338086"/>
            <a:ext cx="9801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3775" lIns="67575" spcFirstLastPara="1" rIns="67575" wrap="square" tIns="337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922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0.456</a:t>
            </a:r>
            <a:endParaRPr sz="1035"/>
          </a:p>
        </p:txBody>
      </p:sp>
      <p:sp>
        <p:nvSpPr>
          <p:cNvPr id="211" name="Google Shape;211;p19"/>
          <p:cNvSpPr txBox="1"/>
          <p:nvPr/>
        </p:nvSpPr>
        <p:spPr>
          <a:xfrm>
            <a:off x="7765872" y="1642267"/>
            <a:ext cx="980100" cy="1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3775" lIns="67575" spcFirstLastPara="1" rIns="67575" wrap="square" tIns="337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39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moderate agreement</a:t>
            </a:r>
            <a:endParaRPr sz="1035"/>
          </a:p>
        </p:txBody>
      </p:sp>
      <p:sp>
        <p:nvSpPr>
          <p:cNvPr id="212" name="Google Shape;212;p19"/>
          <p:cNvSpPr txBox="1"/>
          <p:nvPr/>
        </p:nvSpPr>
        <p:spPr>
          <a:xfrm>
            <a:off x="330315" y="2149236"/>
            <a:ext cx="47316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3775" lIns="67575" spcFirstLastPara="1" rIns="67575" wrap="square" tIns="337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9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Two-phase annotation protocol</a:t>
            </a:r>
            <a:endParaRPr sz="1035"/>
          </a:p>
        </p:txBody>
      </p:sp>
      <p:sp>
        <p:nvSpPr>
          <p:cNvPr id="213" name="Google Shape;213;p19"/>
          <p:cNvSpPr txBox="1"/>
          <p:nvPr/>
        </p:nvSpPr>
        <p:spPr>
          <a:xfrm>
            <a:off x="330315" y="2453418"/>
            <a:ext cx="8449500" cy="8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3775" lIns="67575" spcFirstLastPara="1" rIns="67575" wrap="square" tIns="337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35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• Phase 1 — LLM-as-a-Judge: structured JSON output (presence, type, location, rationale)</a:t>
            </a:r>
            <a:endParaRPr sz="1035"/>
          </a:p>
          <a:p>
            <a:pPr indent="0" lvl="0" marL="0" marR="0" rtl="0" algn="l">
              <a:spcBef>
                <a:spcPts val="296"/>
              </a:spcBef>
              <a:spcAft>
                <a:spcPts val="0"/>
              </a:spcAft>
              <a:buNone/>
            </a:pPr>
            <a:r>
              <a:rPr b="0" i="0" lang="en" sz="1035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• Phase 2 — Blind human review: annotators assess WITHOUT seeing the judge's output (prevents anchoring)</a:t>
            </a:r>
            <a:endParaRPr sz="1035"/>
          </a:p>
          <a:p>
            <a:pPr indent="0" lvl="0" marL="0" marR="0" rtl="0" algn="l">
              <a:spcBef>
                <a:spcPts val="296"/>
              </a:spcBef>
              <a:spcAft>
                <a:spcPts val="0"/>
              </a:spcAft>
              <a:buNone/>
            </a:pPr>
            <a:r>
              <a:rPr b="0" i="0" lang="en" sz="1035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• Each trajectory rated on: presence · type(s) · localization · free-text rationale</a:t>
            </a:r>
            <a:endParaRPr sz="1035"/>
          </a:p>
          <a:p>
            <a:pPr indent="0" lvl="0" marL="0" marR="0" rtl="0" algn="l">
              <a:spcBef>
                <a:spcPts val="296"/>
              </a:spcBef>
              <a:spcAft>
                <a:spcPts val="0"/>
              </a:spcAft>
              <a:buNone/>
            </a:pPr>
            <a:r>
              <a:rPr b="0" i="0" lang="en" sz="1035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• Annotators: Columbia University (148 reviews) + IBM Research (77 reviews)</a:t>
            </a:r>
            <a:endParaRPr sz="1035"/>
          </a:p>
        </p:txBody>
      </p:sp>
      <p:sp>
        <p:nvSpPr>
          <p:cNvPr id="214" name="Google Shape;214;p19"/>
          <p:cNvSpPr txBox="1"/>
          <p:nvPr/>
        </p:nvSpPr>
        <p:spPr>
          <a:xfrm>
            <a:off x="365835" y="3528190"/>
            <a:ext cx="4572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LLM Judge vs Human (n=224)</a:t>
            </a:r>
            <a:endParaRPr/>
          </a:p>
        </p:txBody>
      </p:sp>
      <p:graphicFrame>
        <p:nvGraphicFramePr>
          <p:cNvPr id="215" name="Google Shape;215;p19"/>
          <p:cNvGraphicFramePr/>
          <p:nvPr/>
        </p:nvGraphicFramePr>
        <p:xfrm>
          <a:off x="365835" y="38939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{7C2F7D2F-B249-4613-A6A3-61962B379ED6}</a:tableStyleId>
              </a:tblPr>
              <a:tblGrid>
                <a:gridCol w="2286000"/>
                <a:gridCol w="1600200"/>
                <a:gridCol w="160020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none" cap="none" strike="noStrike">
                          <a:solidFill>
                            <a:srgbClr val="FFFFFF"/>
                          </a:solidFill>
                        </a:rPr>
                        <a:t>Human: No Hall.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none" cap="none" strike="noStrike">
                          <a:solidFill>
                            <a:srgbClr val="FFFFFF"/>
                          </a:solidFill>
                        </a:rPr>
                        <a:t>Human: Hall</a:t>
                      </a:r>
                      <a:r>
                        <a:rPr lang="en" sz="1200"/>
                        <a:t>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1A2744"/>
                          </a:solidFill>
                        </a:rPr>
                        <a:t>Judge: No Hall.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1A2744"/>
                          </a:solidFill>
                        </a:rPr>
                        <a:t>35  (TN)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1A2744"/>
                          </a:solidFill>
                        </a:rPr>
                        <a:t>12  (FN)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1A2744"/>
                          </a:solidFill>
                        </a:rPr>
                        <a:t>Judge: Hall</a:t>
                      </a:r>
                      <a:r>
                        <a:rPr lang="en" sz="1200">
                          <a:solidFill>
                            <a:srgbClr val="1A2744"/>
                          </a:solidFill>
                        </a:rPr>
                        <a:t>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1A2744"/>
                          </a:solidFill>
                        </a:rPr>
                        <a:t>36  (FP)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1A2744"/>
                          </a:solidFill>
                        </a:rPr>
                        <a:t>141  (TP)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  <p:sp>
        <p:nvSpPr>
          <p:cNvPr id="216" name="Google Shape;216;p19"/>
          <p:cNvSpPr txBox="1"/>
          <p:nvPr/>
        </p:nvSpPr>
        <p:spPr>
          <a:xfrm>
            <a:off x="6075978" y="4104850"/>
            <a:ext cx="267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300" u="none" cap="none" strike="noStrike">
                <a:solidFill>
                  <a:srgbClr val="4A5C70"/>
                </a:solidFill>
                <a:latin typeface="Calibri"/>
                <a:ea typeface="Calibri"/>
                <a:cs typeface="Calibri"/>
                <a:sym typeface="Calibri"/>
              </a:rPr>
              <a:t>High recall (92.2%) but lower </a:t>
            </a:r>
            <a:endParaRPr b="0" i="1" sz="1300" u="none" cap="none" strike="noStrike">
              <a:solidFill>
                <a:srgbClr val="4A5C7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300" u="none" cap="none" strike="noStrike">
                <a:solidFill>
                  <a:srgbClr val="4A5C70"/>
                </a:solidFill>
                <a:latin typeface="Calibri"/>
                <a:ea typeface="Calibri"/>
                <a:cs typeface="Calibri"/>
                <a:sym typeface="Calibri"/>
              </a:rPr>
              <a:t>precision (79.7%)</a:t>
            </a:r>
            <a:r>
              <a:rPr i="1" lang="en" sz="1300">
                <a:solidFill>
                  <a:srgbClr val="4A5C70"/>
                </a:solidFill>
                <a:latin typeface="Calibri"/>
                <a:ea typeface="Calibri"/>
                <a:cs typeface="Calibri"/>
                <a:sym typeface="Calibri"/>
              </a:rPr>
              <a:t>; </a:t>
            </a:r>
            <a:r>
              <a:rPr b="0" i="1" lang="en" sz="1300" u="none" cap="none" strike="noStrike">
                <a:solidFill>
                  <a:srgbClr val="4A5C70"/>
                </a:solidFill>
                <a:latin typeface="Calibri"/>
                <a:ea typeface="Calibri"/>
                <a:cs typeface="Calibri"/>
                <a:sym typeface="Calibri"/>
              </a:rPr>
              <a:t> conservative bias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0"/>
          <p:cNvSpPr/>
          <p:nvPr/>
        </p:nvSpPr>
        <p:spPr>
          <a:xfrm>
            <a:off x="0" y="0"/>
            <a:ext cx="9144000" cy="89160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30007" rotWithShape="0" dir="5400000" dist="17254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274388" y="68597"/>
            <a:ext cx="8574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What the Data Shows: Distribution &amp; Localization</a:t>
            </a:r>
            <a:endParaRPr b="1"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>
            <a:off x="274388" y="562494"/>
            <a:ext cx="8574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Procedural failures dominate; hallucinations peak mid-trajectory</a:t>
            </a:r>
            <a:endParaRPr sz="1200">
              <a:solidFill>
                <a:srgbClr val="F5A62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213910" y="985075"/>
            <a:ext cx="5943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Hallucination type distribution (human eval)</a:t>
            </a:r>
            <a:endParaRPr/>
          </a:p>
        </p:txBody>
      </p:sp>
      <p:graphicFrame>
        <p:nvGraphicFramePr>
          <p:cNvPr id="225" name="Google Shape;225;p20"/>
          <p:cNvGraphicFramePr/>
          <p:nvPr/>
        </p:nvGraphicFramePr>
        <p:xfrm>
          <a:off x="213910" y="139655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{7C2F7D2F-B249-4613-A6A3-61962B379ED6}</a:tableStyleId>
              </a:tblPr>
              <a:tblGrid>
                <a:gridCol w="1517125"/>
                <a:gridCol w="682700"/>
                <a:gridCol w="682700"/>
                <a:gridCol w="2275650"/>
              </a:tblGrid>
              <a:tr h="273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none" cap="none" strike="noStrike">
                          <a:solidFill>
                            <a:srgbClr val="FFFFFF"/>
                          </a:solidFill>
                        </a:rPr>
                        <a:t>Type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none" cap="none" strike="noStrike">
                          <a:solidFill>
                            <a:srgbClr val="FFFFFF"/>
                          </a:solidFill>
                        </a:rPr>
                        <a:t>Count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none" cap="none" strike="noStrike">
                          <a:solidFill>
                            <a:srgbClr val="FFFFFF"/>
                          </a:solidFill>
                        </a:rPr>
                        <a:t>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none" cap="none" strike="noStrike">
                          <a:solidFill>
                            <a:srgbClr val="FFFFFF"/>
                          </a:solidFill>
                        </a:rPr>
                        <a:t>Key implication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</a:tr>
              <a:tr h="273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1A2744"/>
                          </a:solidFill>
                        </a:rPr>
                        <a:t>Procedural  hᴾ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1A2744"/>
                          </a:solidFill>
                        </a:rPr>
                        <a:t>95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1A2744"/>
                          </a:solidFill>
                        </a:rPr>
                        <a:t>38.5%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1A2744"/>
                          </a:solidFill>
                        </a:rPr>
                        <a:t>Invisible to output-only eval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273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1A2744"/>
                          </a:solidFill>
                        </a:rPr>
                        <a:t>Factual  hᶠ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1A2744"/>
                          </a:solidFill>
                        </a:rPr>
                        <a:t>65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1A2744"/>
                          </a:solidFill>
                        </a:rPr>
                        <a:t>26.3%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1A2744"/>
                          </a:solidFill>
                        </a:rPr>
                        <a:t>Most detectable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2F5"/>
                    </a:solidFill>
                  </a:tcPr>
                </a:tc>
              </a:tr>
              <a:tr h="273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1A2744"/>
                          </a:solidFill>
                        </a:rPr>
                        <a:t>Scope  hˢ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1A2744"/>
                          </a:solidFill>
                        </a:rPr>
                        <a:t>49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1A2744"/>
                          </a:solidFill>
                        </a:rPr>
                        <a:t>19.8%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1A2744"/>
                          </a:solidFill>
                        </a:rPr>
                        <a:t>Unique to multi-agent settings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273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1A2744"/>
                          </a:solidFill>
                        </a:rPr>
                        <a:t>Logical  hᴸ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1A2744"/>
                          </a:solidFill>
                        </a:rPr>
                        <a:t>21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1A2744"/>
                          </a:solidFill>
                        </a:rPr>
                        <a:t>8.5%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1A2744"/>
                          </a:solidFill>
                        </a:rPr>
                        <a:t>Hardest to annotate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2F5"/>
                    </a:solidFill>
                  </a:tcPr>
                </a:tc>
              </a:tr>
              <a:tr h="273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1A2744"/>
                          </a:solidFill>
                        </a:rPr>
                        <a:t>Referential  hᴿ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1A2744"/>
                          </a:solidFill>
                        </a:rPr>
                        <a:t>17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1A2744"/>
                          </a:solidFill>
                        </a:rPr>
                        <a:t>6.9%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1A2744"/>
                          </a:solidFill>
                        </a:rPr>
                        <a:t>Requires full trace context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273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1A2744"/>
                          </a:solidFill>
                        </a:rPr>
                        <a:t>Total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1A2744"/>
                          </a:solidFill>
                        </a:rPr>
                        <a:t>247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1A2744"/>
                          </a:solidFill>
                        </a:rPr>
                        <a:t>—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1A2744"/>
                          </a:solidFill>
                        </a:rPr>
                        <a:t>Multi-label: 48.7% of traces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  <p:sp>
        <p:nvSpPr>
          <p:cNvPr id="226" name="Google Shape;226;p20"/>
          <p:cNvSpPr txBox="1"/>
          <p:nvPr/>
        </p:nvSpPr>
        <p:spPr>
          <a:xfrm>
            <a:off x="5852140" y="985075"/>
            <a:ext cx="5029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Where in the trace?</a:t>
            </a:r>
            <a:endParaRPr/>
          </a:p>
        </p:txBody>
      </p:sp>
      <p:graphicFrame>
        <p:nvGraphicFramePr>
          <p:cNvPr id="227" name="Google Shape;227;p20"/>
          <p:cNvGraphicFramePr/>
          <p:nvPr/>
        </p:nvGraphicFramePr>
        <p:xfrm>
          <a:off x="5852140" y="139655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{7C2F7D2F-B249-4613-A6A3-61962B379ED6}</a:tableStyleId>
              </a:tblPr>
              <a:tblGrid>
                <a:gridCol w="1371600"/>
                <a:gridCol w="1371600"/>
              </a:tblGrid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 u="none" cap="none" strike="noStrike">
                          <a:solidFill>
                            <a:srgbClr val="FFFFFF"/>
                          </a:solidFill>
                        </a:rPr>
                        <a:t>Step Component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 u="none" cap="none" strike="noStrike">
                          <a:solidFill>
                            <a:srgbClr val="FFFFFF"/>
                          </a:solidFill>
                        </a:rPr>
                        <a:t>Count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cap="none" strike="noStrike">
                          <a:solidFill>
                            <a:srgbClr val="1A2744"/>
                          </a:solidFill>
                        </a:rPr>
                        <a:t>Action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cap="none" strike="noStrike">
                          <a:solidFill>
                            <a:srgbClr val="1A2744"/>
                          </a:solidFill>
                        </a:rPr>
                        <a:t>70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cap="none" strike="noStrike">
                          <a:solidFill>
                            <a:srgbClr val="1A2744"/>
                          </a:solidFill>
                        </a:rPr>
                        <a:t>Response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cap="none" strike="noStrike">
                          <a:solidFill>
                            <a:srgbClr val="1A2744"/>
                          </a:solidFill>
                        </a:rPr>
                        <a:t>58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2F5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cap="none" strike="noStrike">
                          <a:solidFill>
                            <a:srgbClr val="1A2744"/>
                          </a:solidFill>
                        </a:rPr>
                        <a:t>Thought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cap="none" strike="noStrike">
                          <a:solidFill>
                            <a:srgbClr val="1A2744"/>
                          </a:solidFill>
                        </a:rPr>
                        <a:t>40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cap="none" strike="noStrike">
                          <a:solidFill>
                            <a:srgbClr val="1A2744"/>
                          </a:solidFill>
                        </a:rPr>
                        <a:t>Observation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cap="none" strike="noStrike">
                          <a:solidFill>
                            <a:srgbClr val="1A2744"/>
                          </a:solidFill>
                        </a:rPr>
                        <a:t>11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8" name="Google Shape;228;p20"/>
          <p:cNvGraphicFramePr/>
          <p:nvPr/>
        </p:nvGraphicFramePr>
        <p:xfrm>
          <a:off x="5852160" y="32171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{7C2F7D2F-B249-4613-A6A3-61962B379ED6}</a:tableStyleId>
              </a:tblPr>
              <a:tblGrid>
                <a:gridCol w="1371600"/>
                <a:gridCol w="1371600"/>
              </a:tblGrid>
              <a:tr h="299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none" cap="none" strike="noStrike">
                          <a:solidFill>
                            <a:srgbClr val="FFFFFF"/>
                          </a:solidFill>
                        </a:rPr>
                        <a:t>Task Position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none" cap="none" strike="noStrike">
                          <a:solidFill>
                            <a:srgbClr val="FFFFFF"/>
                          </a:solidFill>
                        </a:rPr>
                        <a:t>Count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</a:tr>
              <a:tr h="209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1A2744"/>
                          </a:solidFill>
                        </a:rPr>
                        <a:t>Task 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1A2744"/>
                          </a:solidFill>
                        </a:rPr>
                        <a:t>36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209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1A2744"/>
                          </a:solidFill>
                        </a:rPr>
                        <a:t>Task 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1A2744"/>
                          </a:solidFill>
                        </a:rPr>
                        <a:t>44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2F5"/>
                    </a:solidFill>
                  </a:tcPr>
                </a:tc>
              </a:tr>
              <a:tr h="209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1A2744"/>
                          </a:solidFill>
                        </a:rPr>
                        <a:t>Task 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1A2744"/>
                          </a:solidFill>
                        </a:rPr>
                        <a:t>63 ← peak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209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1A2744"/>
                          </a:solidFill>
                        </a:rPr>
                        <a:t>Task 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1A2744"/>
                          </a:solidFill>
                        </a:rPr>
                        <a:t>43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2F5"/>
                    </a:solidFill>
                  </a:tcPr>
                </a:tc>
              </a:tr>
              <a:tr h="299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1A2744"/>
                          </a:solidFill>
                        </a:rPr>
                        <a:t>Task 5+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1A2744"/>
                          </a:solidFill>
                        </a:rPr>
                        <a:t>51 (declining)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1"/>
          <p:cNvSpPr/>
          <p:nvPr/>
        </p:nvSpPr>
        <p:spPr>
          <a:xfrm>
            <a:off x="0" y="0"/>
            <a:ext cx="9144000" cy="89160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30007" rotWithShape="0" dir="5400000" dist="17254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274388" y="68597"/>
            <a:ext cx="8574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Three Detection Paradigms</a:t>
            </a:r>
            <a:endParaRPr sz="2400"/>
          </a:p>
        </p:txBody>
      </p:sp>
      <p:sp>
        <p:nvSpPr>
          <p:cNvPr id="235" name="Google Shape;235;p21"/>
          <p:cNvSpPr txBox="1"/>
          <p:nvPr/>
        </p:nvSpPr>
        <p:spPr>
          <a:xfrm>
            <a:off x="274388" y="562495"/>
            <a:ext cx="8574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Each model aligns with the context needed for specific hallucination types</a:t>
            </a:r>
            <a:endParaRPr sz="1200"/>
          </a:p>
        </p:txBody>
      </p:sp>
      <p:sp>
        <p:nvSpPr>
          <p:cNvPr id="236" name="Google Shape;236;p21"/>
          <p:cNvSpPr/>
          <p:nvPr/>
        </p:nvSpPr>
        <p:spPr>
          <a:xfrm>
            <a:off x="240089" y="994656"/>
            <a:ext cx="2675100" cy="411600"/>
          </a:xfrm>
          <a:prstGeom prst="rect">
            <a:avLst/>
          </a:prstGeom>
          <a:solidFill>
            <a:srgbClr val="1F6FEB"/>
          </a:solidFill>
          <a:ln>
            <a:noFill/>
          </a:ln>
          <a:effectLst>
            <a:outerShdw blurRad="30007" rotWithShape="0" dir="5400000" dist="17254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1"/>
          <p:cNvSpPr txBox="1"/>
          <p:nvPr/>
        </p:nvSpPr>
        <p:spPr>
          <a:xfrm>
            <a:off x="308685" y="1028954"/>
            <a:ext cx="2538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2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① BERT</a:t>
            </a:r>
            <a:br>
              <a:rPr b="1" i="0" lang="en" sz="112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112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(Subtask-level)</a:t>
            </a:r>
            <a:endParaRPr sz="1050"/>
          </a:p>
        </p:txBody>
      </p:sp>
      <p:sp>
        <p:nvSpPr>
          <p:cNvPr id="238" name="Google Shape;238;p21"/>
          <p:cNvSpPr/>
          <p:nvPr/>
        </p:nvSpPr>
        <p:spPr>
          <a:xfrm>
            <a:off x="240089" y="1426816"/>
            <a:ext cx="2675100" cy="994800"/>
          </a:xfrm>
          <a:prstGeom prst="rect">
            <a:avLst/>
          </a:prstGeom>
          <a:solidFill>
            <a:srgbClr val="F0F2F5"/>
          </a:solidFill>
          <a:ln>
            <a:noFill/>
          </a:ln>
          <a:effectLst>
            <a:outerShdw blurRad="30007" rotWithShape="0" dir="5400000" dist="17254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1"/>
          <p:cNvSpPr txBox="1"/>
          <p:nvPr/>
        </p:nvSpPr>
        <p:spPr>
          <a:xfrm>
            <a:off x="342984" y="1461115"/>
            <a:ext cx="24696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75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Input: single step (τ + α + ω)</a:t>
            </a:r>
            <a:br>
              <a:rPr b="0" i="0" lang="en" sz="975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975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Predicts hallucination per step</a:t>
            </a:r>
            <a:br>
              <a:rPr b="0" i="0" lang="en" sz="975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975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Captures local lexical cues</a:t>
            </a:r>
            <a:endParaRPr sz="1050"/>
          </a:p>
        </p:txBody>
      </p:sp>
      <p:sp>
        <p:nvSpPr>
          <p:cNvPr id="240" name="Google Shape;240;p21"/>
          <p:cNvSpPr/>
          <p:nvPr/>
        </p:nvSpPr>
        <p:spPr>
          <a:xfrm>
            <a:off x="240089" y="2442051"/>
            <a:ext cx="2675100" cy="617400"/>
          </a:xfrm>
          <a:prstGeom prst="rect">
            <a:avLst/>
          </a:prstGeom>
          <a:solidFill>
            <a:srgbClr val="E8F8E8"/>
          </a:solidFill>
          <a:ln>
            <a:noFill/>
          </a:ln>
          <a:effectLst>
            <a:outerShdw blurRad="30007" rotWithShape="0" dir="5400000" dist="17254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1"/>
          <p:cNvSpPr txBox="1"/>
          <p:nvPr/>
        </p:nvSpPr>
        <p:spPr>
          <a:xfrm>
            <a:off x="342984" y="2469490"/>
            <a:ext cx="24696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Best for: Factual</a:t>
            </a:r>
            <a:br>
              <a:rPr b="0" i="0" lang="en" sz="9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9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Weakest on: Procedural, Scope</a:t>
            </a:r>
            <a:endParaRPr sz="1050"/>
          </a:p>
        </p:txBody>
      </p:sp>
      <p:sp>
        <p:nvSpPr>
          <p:cNvPr id="242" name="Google Shape;242;p21"/>
          <p:cNvSpPr/>
          <p:nvPr/>
        </p:nvSpPr>
        <p:spPr>
          <a:xfrm>
            <a:off x="1131849" y="3121161"/>
            <a:ext cx="891600" cy="377100"/>
          </a:xfrm>
          <a:prstGeom prst="rect">
            <a:avLst/>
          </a:prstGeom>
          <a:solidFill>
            <a:srgbClr val="1F6FEB"/>
          </a:solidFill>
          <a:ln>
            <a:noFill/>
          </a:ln>
          <a:effectLst>
            <a:outerShdw blurRad="30007" rotWithShape="0" dir="5400000" dist="17254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1"/>
          <p:cNvSpPr txBox="1"/>
          <p:nvPr/>
        </p:nvSpPr>
        <p:spPr>
          <a:xfrm>
            <a:off x="1131849" y="3141740"/>
            <a:ext cx="891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AUC 0.613</a:t>
            </a:r>
            <a:endParaRPr sz="1050"/>
          </a:p>
        </p:txBody>
      </p:sp>
      <p:sp>
        <p:nvSpPr>
          <p:cNvPr id="244" name="Google Shape;244;p21"/>
          <p:cNvSpPr/>
          <p:nvPr/>
        </p:nvSpPr>
        <p:spPr>
          <a:xfrm>
            <a:off x="3189754" y="994656"/>
            <a:ext cx="2675100" cy="411600"/>
          </a:xfrm>
          <a:prstGeom prst="rect">
            <a:avLst/>
          </a:prstGeom>
          <a:solidFill>
            <a:srgbClr val="E67E22"/>
          </a:solidFill>
          <a:ln>
            <a:noFill/>
          </a:ln>
          <a:effectLst>
            <a:outerShdw blurRad="30007" rotWithShape="0" dir="5400000" dist="17254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1"/>
          <p:cNvSpPr txBox="1"/>
          <p:nvPr/>
        </p:nvSpPr>
        <p:spPr>
          <a:xfrm>
            <a:off x="3258351" y="1028954"/>
            <a:ext cx="2538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2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② NLI</a:t>
            </a:r>
            <a:br>
              <a:rPr b="1" i="0" lang="en" sz="112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112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(Trajectory-level)</a:t>
            </a:r>
            <a:endParaRPr sz="1050"/>
          </a:p>
        </p:txBody>
      </p:sp>
      <p:sp>
        <p:nvSpPr>
          <p:cNvPr id="246" name="Google Shape;246;p21"/>
          <p:cNvSpPr/>
          <p:nvPr/>
        </p:nvSpPr>
        <p:spPr>
          <a:xfrm>
            <a:off x="3189754" y="1426816"/>
            <a:ext cx="2675100" cy="994800"/>
          </a:xfrm>
          <a:prstGeom prst="rect">
            <a:avLst/>
          </a:prstGeom>
          <a:solidFill>
            <a:srgbClr val="F0F2F5"/>
          </a:solidFill>
          <a:ln>
            <a:noFill/>
          </a:ln>
          <a:effectLst>
            <a:outerShdw blurRad="30007" rotWithShape="0" dir="5400000" dist="17254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1"/>
          <p:cNvSpPr txBox="1"/>
          <p:nvPr/>
        </p:nvSpPr>
        <p:spPr>
          <a:xfrm>
            <a:off x="3292650" y="1461115"/>
            <a:ext cx="24696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75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Input: history as premise,</a:t>
            </a:r>
            <a:br>
              <a:rPr b="0" i="0" lang="en" sz="975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975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current step as hypothesis</a:t>
            </a:r>
            <a:br>
              <a:rPr b="0" i="0" lang="en" sz="975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975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Entailment / neutral / contradiction</a:t>
            </a:r>
            <a:endParaRPr sz="1050"/>
          </a:p>
        </p:txBody>
      </p:sp>
      <p:sp>
        <p:nvSpPr>
          <p:cNvPr id="248" name="Google Shape;248;p21"/>
          <p:cNvSpPr/>
          <p:nvPr/>
        </p:nvSpPr>
        <p:spPr>
          <a:xfrm>
            <a:off x="3189754" y="2442051"/>
            <a:ext cx="2675100" cy="617400"/>
          </a:xfrm>
          <a:prstGeom prst="rect">
            <a:avLst/>
          </a:prstGeom>
          <a:solidFill>
            <a:srgbClr val="E8F8E8"/>
          </a:solidFill>
          <a:ln>
            <a:noFill/>
          </a:ln>
          <a:effectLst>
            <a:outerShdw blurRad="30007" rotWithShape="0" dir="5400000" dist="17254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1"/>
          <p:cNvSpPr txBox="1"/>
          <p:nvPr/>
        </p:nvSpPr>
        <p:spPr>
          <a:xfrm>
            <a:off x="3292650" y="2469490"/>
            <a:ext cx="24696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Best for: Referential, Logical</a:t>
            </a:r>
            <a:br>
              <a:rPr b="0" i="0" lang="en" sz="9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9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Checks trace-wide consistency</a:t>
            </a:r>
            <a:endParaRPr sz="1050"/>
          </a:p>
        </p:txBody>
      </p:sp>
      <p:sp>
        <p:nvSpPr>
          <p:cNvPr id="250" name="Google Shape;250;p21"/>
          <p:cNvSpPr/>
          <p:nvPr/>
        </p:nvSpPr>
        <p:spPr>
          <a:xfrm>
            <a:off x="4081514" y="3121161"/>
            <a:ext cx="891600" cy="377100"/>
          </a:xfrm>
          <a:prstGeom prst="rect">
            <a:avLst/>
          </a:prstGeom>
          <a:solidFill>
            <a:srgbClr val="E67E22"/>
          </a:solidFill>
          <a:ln>
            <a:noFill/>
          </a:ln>
          <a:effectLst>
            <a:outerShdw blurRad="30007" rotWithShape="0" dir="5400000" dist="17254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1"/>
          <p:cNvSpPr txBox="1"/>
          <p:nvPr/>
        </p:nvSpPr>
        <p:spPr>
          <a:xfrm>
            <a:off x="4081514" y="3141740"/>
            <a:ext cx="891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AUC 0.689</a:t>
            </a:r>
            <a:endParaRPr sz="1050"/>
          </a:p>
        </p:txBody>
      </p:sp>
      <p:sp>
        <p:nvSpPr>
          <p:cNvPr id="252" name="Google Shape;252;p21"/>
          <p:cNvSpPr/>
          <p:nvPr/>
        </p:nvSpPr>
        <p:spPr>
          <a:xfrm>
            <a:off x="6139420" y="994656"/>
            <a:ext cx="2675100" cy="411600"/>
          </a:xfrm>
          <a:prstGeom prst="rect">
            <a:avLst/>
          </a:prstGeom>
          <a:solidFill>
            <a:srgbClr val="8E44AD"/>
          </a:solidFill>
          <a:ln>
            <a:noFill/>
          </a:ln>
          <a:effectLst>
            <a:outerShdw blurRad="30007" rotWithShape="0" dir="5400000" dist="17254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1"/>
          <p:cNvSpPr txBox="1"/>
          <p:nvPr/>
        </p:nvSpPr>
        <p:spPr>
          <a:xfrm>
            <a:off x="6208017" y="1028954"/>
            <a:ext cx="2538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2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③ Longformer</a:t>
            </a:r>
            <a:br>
              <a:rPr b="1" i="0" lang="en" sz="112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112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(Long-context)</a:t>
            </a:r>
            <a:endParaRPr sz="1050"/>
          </a:p>
        </p:txBody>
      </p:sp>
      <p:sp>
        <p:nvSpPr>
          <p:cNvPr id="254" name="Google Shape;254;p21"/>
          <p:cNvSpPr/>
          <p:nvPr/>
        </p:nvSpPr>
        <p:spPr>
          <a:xfrm>
            <a:off x="6139420" y="1426816"/>
            <a:ext cx="2675100" cy="994800"/>
          </a:xfrm>
          <a:prstGeom prst="rect">
            <a:avLst/>
          </a:prstGeom>
          <a:solidFill>
            <a:srgbClr val="F0F2F5"/>
          </a:solidFill>
          <a:ln>
            <a:noFill/>
          </a:ln>
          <a:effectLst>
            <a:outerShdw blurRad="30007" rotWithShape="0" dir="5400000" dist="17254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1"/>
          <p:cNvSpPr txBox="1"/>
          <p:nvPr/>
        </p:nvSpPr>
        <p:spPr>
          <a:xfrm>
            <a:off x="6242316" y="1461115"/>
            <a:ext cx="24696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75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Input: full serialised trajectory</a:t>
            </a:r>
            <a:br>
              <a:rPr b="0" i="0" lang="en" sz="975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975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Sparse attention → handles</a:t>
            </a:r>
            <a:br>
              <a:rPr b="0" i="0" lang="en" sz="975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975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long traces beyond BERT window</a:t>
            </a:r>
            <a:endParaRPr sz="1050"/>
          </a:p>
        </p:txBody>
      </p:sp>
      <p:sp>
        <p:nvSpPr>
          <p:cNvPr id="256" name="Google Shape;256;p21"/>
          <p:cNvSpPr/>
          <p:nvPr/>
        </p:nvSpPr>
        <p:spPr>
          <a:xfrm>
            <a:off x="6139420" y="2442051"/>
            <a:ext cx="2675100" cy="617400"/>
          </a:xfrm>
          <a:prstGeom prst="rect">
            <a:avLst/>
          </a:prstGeom>
          <a:solidFill>
            <a:srgbClr val="E8F8E8"/>
          </a:solidFill>
          <a:ln>
            <a:noFill/>
          </a:ln>
          <a:effectLst>
            <a:outerShdw blurRad="30007" rotWithShape="0" dir="5400000" dist="17254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1"/>
          <p:cNvSpPr txBox="1"/>
          <p:nvPr/>
        </p:nvSpPr>
        <p:spPr>
          <a:xfrm>
            <a:off x="6242316" y="2469490"/>
            <a:ext cx="24696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Best for: Procedural, Scope</a:t>
            </a:r>
            <a:br>
              <a:rPr b="0" i="0" lang="en" sz="9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9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Requires global context</a:t>
            </a:r>
            <a:endParaRPr sz="1050"/>
          </a:p>
        </p:txBody>
      </p:sp>
      <p:sp>
        <p:nvSpPr>
          <p:cNvPr id="258" name="Google Shape;258;p21"/>
          <p:cNvSpPr/>
          <p:nvPr/>
        </p:nvSpPr>
        <p:spPr>
          <a:xfrm>
            <a:off x="7031180" y="3121161"/>
            <a:ext cx="891600" cy="377100"/>
          </a:xfrm>
          <a:prstGeom prst="rect">
            <a:avLst/>
          </a:prstGeom>
          <a:solidFill>
            <a:srgbClr val="8E44AD"/>
          </a:solidFill>
          <a:ln>
            <a:noFill/>
          </a:ln>
          <a:effectLst>
            <a:outerShdw blurRad="30007" rotWithShape="0" dir="5400000" dist="17254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1"/>
          <p:cNvSpPr txBox="1"/>
          <p:nvPr/>
        </p:nvSpPr>
        <p:spPr>
          <a:xfrm>
            <a:off x="7031180" y="3141740"/>
            <a:ext cx="891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AUC 0.599</a:t>
            </a:r>
            <a:endParaRPr sz="10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2"/>
          <p:cNvSpPr/>
          <p:nvPr/>
        </p:nvSpPr>
        <p:spPr>
          <a:xfrm>
            <a:off x="0" y="0"/>
            <a:ext cx="9144000" cy="89160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30007" rotWithShape="0" dir="5400000" dist="17254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2"/>
          <p:cNvSpPr txBox="1"/>
          <p:nvPr/>
        </p:nvSpPr>
        <p:spPr>
          <a:xfrm>
            <a:off x="274388" y="68597"/>
            <a:ext cx="8574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NeurIPS 2026 Submission</a:t>
            </a:r>
            <a:endParaRPr sz="2400"/>
          </a:p>
        </p:txBody>
      </p:sp>
      <p:sp>
        <p:nvSpPr>
          <p:cNvPr id="266" name="Google Shape;266;p22"/>
          <p:cNvSpPr txBox="1"/>
          <p:nvPr/>
        </p:nvSpPr>
        <p:spPr>
          <a:xfrm>
            <a:off x="274388" y="562495"/>
            <a:ext cx="8574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Submitted May 6, 2026</a:t>
            </a:r>
            <a:r>
              <a:rPr lang="en" sz="1200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n" sz="1200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Research conducted in collaboration with IBM Research  ·  PI: Dhaval C. Patel  </a:t>
            </a:r>
            <a:endParaRPr sz="1200"/>
          </a:p>
        </p:txBody>
      </p:sp>
      <p:sp>
        <p:nvSpPr>
          <p:cNvPr id="267" name="Google Shape;267;p22"/>
          <p:cNvSpPr/>
          <p:nvPr/>
        </p:nvSpPr>
        <p:spPr>
          <a:xfrm>
            <a:off x="274388" y="1028955"/>
            <a:ext cx="2881200" cy="178350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30007" rotWithShape="0" dir="5400000" dist="17254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2"/>
          <p:cNvSpPr txBox="1"/>
          <p:nvPr/>
        </p:nvSpPr>
        <p:spPr>
          <a:xfrm>
            <a:off x="342984" y="1097552"/>
            <a:ext cx="27438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1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NeurIPS</a:t>
            </a:r>
            <a:endParaRPr sz="1050"/>
          </a:p>
        </p:txBody>
      </p:sp>
      <p:sp>
        <p:nvSpPr>
          <p:cNvPr id="269" name="Google Shape;269;p22"/>
          <p:cNvSpPr txBox="1"/>
          <p:nvPr/>
        </p:nvSpPr>
        <p:spPr>
          <a:xfrm>
            <a:off x="342984" y="1543432"/>
            <a:ext cx="2743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15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2026</a:t>
            </a:r>
            <a:endParaRPr sz="1050"/>
          </a:p>
        </p:txBody>
      </p:sp>
      <p:sp>
        <p:nvSpPr>
          <p:cNvPr id="270" name="Google Shape;270;p22"/>
          <p:cNvSpPr txBox="1"/>
          <p:nvPr/>
        </p:nvSpPr>
        <p:spPr>
          <a:xfrm>
            <a:off x="342984" y="1989312"/>
            <a:ext cx="2743800" cy="3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5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Datasets &amp;</a:t>
            </a:r>
            <a:br>
              <a:rPr b="0" i="0" lang="en" sz="105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05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Benchmarks Track</a:t>
            </a:r>
            <a:endParaRPr sz="1050"/>
          </a:p>
        </p:txBody>
      </p:sp>
      <p:sp>
        <p:nvSpPr>
          <p:cNvPr id="271" name="Google Shape;271;p22"/>
          <p:cNvSpPr/>
          <p:nvPr/>
        </p:nvSpPr>
        <p:spPr>
          <a:xfrm>
            <a:off x="342984" y="2572387"/>
            <a:ext cx="2743800" cy="17160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30007" rotWithShape="0" dir="5400000" dist="17254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2"/>
          <p:cNvSpPr txBox="1"/>
          <p:nvPr/>
        </p:nvSpPr>
        <p:spPr>
          <a:xfrm>
            <a:off x="342984" y="2778178"/>
            <a:ext cx="27438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Submitted  May 6, 2026</a:t>
            </a:r>
            <a:endParaRPr sz="1050"/>
          </a:p>
        </p:txBody>
      </p:sp>
      <p:sp>
        <p:nvSpPr>
          <p:cNvPr id="273" name="Google Shape;273;p22"/>
          <p:cNvSpPr/>
          <p:nvPr/>
        </p:nvSpPr>
        <p:spPr>
          <a:xfrm>
            <a:off x="3361247" y="1028955"/>
            <a:ext cx="5487900" cy="617400"/>
          </a:xfrm>
          <a:prstGeom prst="rect">
            <a:avLst/>
          </a:prstGeom>
          <a:solidFill>
            <a:srgbClr val="F0F2F5"/>
          </a:solidFill>
          <a:ln>
            <a:noFill/>
          </a:ln>
          <a:effectLst>
            <a:outerShdw blurRad="30007" rotWithShape="0" dir="5400000" dist="17254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2"/>
          <p:cNvSpPr txBox="1"/>
          <p:nvPr/>
        </p:nvSpPr>
        <p:spPr>
          <a:xfrm>
            <a:off x="3464142" y="1070113"/>
            <a:ext cx="5282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25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Beyond Final Answers: </a:t>
            </a:r>
            <a:r>
              <a:rPr b="1" i="0" lang="en" sz="1125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Trajectory-Level Hallucination Detection</a:t>
            </a:r>
            <a:br>
              <a:rPr b="1" i="0" lang="en" sz="1125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1125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in Multi-Agent Industrial Workflows</a:t>
            </a:r>
            <a:endParaRPr sz="1050"/>
          </a:p>
        </p:txBody>
      </p:sp>
      <p:sp>
        <p:nvSpPr>
          <p:cNvPr id="275" name="Google Shape;275;p22"/>
          <p:cNvSpPr txBox="1"/>
          <p:nvPr/>
        </p:nvSpPr>
        <p:spPr>
          <a:xfrm>
            <a:off x="3361247" y="1783521"/>
            <a:ext cx="5487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5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Contributions to the paper</a:t>
            </a:r>
            <a:endParaRPr sz="1050"/>
          </a:p>
        </p:txBody>
      </p:sp>
      <p:sp>
        <p:nvSpPr>
          <p:cNvPr id="276" name="Google Shape;276;p22"/>
          <p:cNvSpPr/>
          <p:nvPr/>
        </p:nvSpPr>
        <p:spPr>
          <a:xfrm>
            <a:off x="3361247" y="2057909"/>
            <a:ext cx="5487900" cy="3420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30007" rotWithShape="0" dir="5400000" dist="17254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2"/>
          <p:cNvSpPr txBox="1"/>
          <p:nvPr/>
        </p:nvSpPr>
        <p:spPr>
          <a:xfrm>
            <a:off x="3361247" y="2160805"/>
            <a:ext cx="5487900" cy="9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75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• Curated and cleaned the Trajel dataset — 225 annotated trajectories</a:t>
            </a:r>
            <a:endParaRPr sz="105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975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• Collected and synthesized related work across hallucination detection, multi-agent evaluation, and industrial AI</a:t>
            </a:r>
            <a:endParaRPr sz="105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975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" sz="975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i="0" lang="en" sz="975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an the LLM-as-a-Judge evaluation pipeline</a:t>
            </a:r>
            <a:endParaRPr sz="105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975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" sz="975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0" lang="en" sz="975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valuated BERT, NLI, and Longformer detection models</a:t>
            </a:r>
            <a:endParaRPr sz="1050"/>
          </a:p>
        </p:txBody>
      </p:sp>
      <p:sp>
        <p:nvSpPr>
          <p:cNvPr id="278" name="Google Shape;278;p22"/>
          <p:cNvSpPr/>
          <p:nvPr/>
        </p:nvSpPr>
        <p:spPr>
          <a:xfrm>
            <a:off x="274388" y="4287418"/>
            <a:ext cx="8574600" cy="514500"/>
          </a:xfrm>
          <a:prstGeom prst="rect">
            <a:avLst/>
          </a:prstGeom>
          <a:solidFill>
            <a:srgbClr val="E8F4FD"/>
          </a:solidFill>
          <a:ln>
            <a:noFill/>
          </a:ln>
          <a:effectLst>
            <a:outerShdw blurRad="30007" rotWithShape="0" dir="5400000" dist="17254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2"/>
          <p:cNvSpPr txBox="1"/>
          <p:nvPr/>
        </p:nvSpPr>
        <p:spPr>
          <a:xfrm>
            <a:off x="411575" y="4356021"/>
            <a:ext cx="16590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75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Paper available on GitHub:</a:t>
            </a:r>
            <a:endParaRPr sz="1050"/>
          </a:p>
        </p:txBody>
      </p:sp>
      <p:sp>
        <p:nvSpPr>
          <p:cNvPr id="280" name="Google Shape;280;p22"/>
          <p:cNvSpPr txBox="1"/>
          <p:nvPr/>
        </p:nvSpPr>
        <p:spPr>
          <a:xfrm>
            <a:off x="1901396" y="4356015"/>
            <a:ext cx="59679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75" u="none" cap="none" strike="noStrike">
                <a:solidFill>
                  <a:srgbClr val="1F6FEB"/>
                </a:solidFill>
                <a:latin typeface="Calibri"/>
                <a:ea typeface="Calibri"/>
                <a:cs typeface="Calibri"/>
                <a:sym typeface="Calibri"/>
              </a:rPr>
              <a:t>github.com/aishani-rachakonda/genai-using-llms-final-project  →  papers/NeurIPS2026_Submission.pdf</a:t>
            </a:r>
            <a:endParaRPr sz="1050"/>
          </a:p>
        </p:txBody>
      </p:sp>
      <p:sp>
        <p:nvSpPr>
          <p:cNvPr id="281" name="Google Shape;281;p22"/>
          <p:cNvSpPr txBox="1"/>
          <p:nvPr/>
        </p:nvSpPr>
        <p:spPr>
          <a:xfrm>
            <a:off x="8506013" y="4870386"/>
            <a:ext cx="5487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25" u="none" cap="none" strike="noStrike">
                <a:solidFill>
                  <a:srgbClr val="4A5C70"/>
                </a:solidFill>
                <a:latin typeface="Calibri"/>
                <a:ea typeface="Calibri"/>
                <a:cs typeface="Calibri"/>
                <a:sym typeface="Calibri"/>
              </a:rPr>
              <a:t>15 / 17</a:t>
            </a:r>
            <a:endParaRPr sz="10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3"/>
          <p:cNvSpPr/>
          <p:nvPr/>
        </p:nvSpPr>
        <p:spPr>
          <a:xfrm>
            <a:off x="0" y="0"/>
            <a:ext cx="9144000" cy="89160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30007" rotWithShape="0" dir="5400000" dist="17254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3"/>
          <p:cNvSpPr txBox="1"/>
          <p:nvPr/>
        </p:nvSpPr>
        <p:spPr>
          <a:xfrm>
            <a:off x="274388" y="68597"/>
            <a:ext cx="8574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Performance Optimization: Caching</a:t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3"/>
          <p:cNvSpPr txBox="1"/>
          <p:nvPr/>
        </p:nvSpPr>
        <p:spPr>
          <a:xfrm>
            <a:off x="274388" y="562494"/>
            <a:ext cx="85746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Prefetching DB context to reduce reapeated retrieval overhead</a:t>
            </a:r>
            <a:endParaRPr sz="1100">
              <a:solidFill>
                <a:srgbClr val="F5A62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3"/>
          <p:cNvSpPr txBox="1"/>
          <p:nvPr/>
        </p:nvSpPr>
        <p:spPr>
          <a:xfrm>
            <a:off x="274389" y="1097280"/>
            <a:ext cx="41157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What we optimized</a:t>
            </a:r>
            <a:endParaRPr sz="1100"/>
          </a:p>
        </p:txBody>
      </p:sp>
      <p:sp>
        <p:nvSpPr>
          <p:cNvPr id="290" name="Google Shape;290;p23"/>
          <p:cNvSpPr txBox="1"/>
          <p:nvPr/>
        </p:nvSpPr>
        <p:spPr>
          <a:xfrm>
            <a:off x="274395" y="1405900"/>
            <a:ext cx="5072400" cy="6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• Identified repeated CouchDB sensor-context lookups on every agent step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• Prefetched and cached asset context at the start of each scenario run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• Eliminated redundant DB round-trips that dominated latency in expensive scenarios</a:t>
            </a:r>
            <a:endParaRPr sz="1100"/>
          </a:p>
        </p:txBody>
      </p:sp>
      <p:pic>
        <p:nvPicPr>
          <p:cNvPr id="291" name="Google Shape;291;p23"/>
          <p:cNvPicPr preferRelativeResize="0"/>
          <p:nvPr/>
        </p:nvPicPr>
        <p:blipFill rotWithShape="1">
          <a:blip r:embed="rId3">
            <a:alphaModFix/>
          </a:blip>
          <a:srcRect b="2090" l="0" r="0" t="-2090"/>
          <a:stretch/>
        </p:blipFill>
        <p:spPr>
          <a:xfrm>
            <a:off x="5778498" y="891600"/>
            <a:ext cx="3365500" cy="4251901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3"/>
          <p:cNvSpPr txBox="1"/>
          <p:nvPr/>
        </p:nvSpPr>
        <p:spPr>
          <a:xfrm>
            <a:off x="274389" y="2130030"/>
            <a:ext cx="41157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Key findings</a:t>
            </a:r>
            <a:endParaRPr sz="1100"/>
          </a:p>
        </p:txBody>
      </p:sp>
      <p:sp>
        <p:nvSpPr>
          <p:cNvPr id="293" name="Google Shape;293;p23"/>
          <p:cNvSpPr txBox="1"/>
          <p:nvPr/>
        </p:nvSpPr>
        <p:spPr>
          <a:xfrm>
            <a:off x="274395" y="2438650"/>
            <a:ext cx="5072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• Caching reduces wall time in several expensive scenarios, especially where repeated sensor retrieval occurs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• Large improvements in high-latency runs — confirms database access was the bottleneck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• Some cached runs are slower due to cache misses, different execution paths, or LLM/tool latency</a:t>
            </a:r>
            <a:endParaRPr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4"/>
          <p:cNvSpPr/>
          <p:nvPr/>
        </p:nvSpPr>
        <p:spPr>
          <a:xfrm>
            <a:off x="0" y="0"/>
            <a:ext cx="9144000" cy="89160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30007" rotWithShape="0" dir="5400000" dist="17254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4"/>
          <p:cNvSpPr txBox="1"/>
          <p:nvPr/>
        </p:nvSpPr>
        <p:spPr>
          <a:xfrm>
            <a:off x="274388" y="68597"/>
            <a:ext cx="8574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Performance Optimization: Parallelization</a:t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4"/>
          <p:cNvSpPr txBox="1"/>
          <p:nvPr/>
        </p:nvSpPr>
        <p:spPr>
          <a:xfrm>
            <a:off x="274388" y="562494"/>
            <a:ext cx="8574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Replacing sequential N×M FMSR relevancy calls </a:t>
            </a:r>
            <a:r>
              <a:rPr lang="en" sz="1200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with</a:t>
            </a:r>
            <a:r>
              <a:rPr lang="en" sz="1200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 asyncio.gather</a:t>
            </a:r>
            <a:endParaRPr sz="1200">
              <a:solidFill>
                <a:srgbClr val="F5A62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4"/>
          <p:cNvSpPr txBox="1"/>
          <p:nvPr/>
        </p:nvSpPr>
        <p:spPr>
          <a:xfrm>
            <a:off x="274389" y="1097280"/>
            <a:ext cx="41157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What we optimized</a:t>
            </a:r>
            <a:endParaRPr sz="1100"/>
          </a:p>
        </p:txBody>
      </p:sp>
      <p:sp>
        <p:nvSpPr>
          <p:cNvPr id="302" name="Google Shape;302;p24"/>
          <p:cNvSpPr txBox="1"/>
          <p:nvPr/>
        </p:nvSpPr>
        <p:spPr>
          <a:xfrm>
            <a:off x="274399" y="1405900"/>
            <a:ext cx="4894500" cy="9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• FMSR server runs _call_relevancy 45–63 times per scenario (one per sensor × failure-mode pair)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• Original implementation: sequential — each call blocks until the previous completes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• Fix: replaced sequential loop with asyncio.gather for full parallel dispatch</a:t>
            </a:r>
            <a:endParaRPr sz="1100"/>
          </a:p>
        </p:txBody>
      </p:sp>
      <p:sp>
        <p:nvSpPr>
          <p:cNvPr id="303" name="Google Shape;303;p24"/>
          <p:cNvSpPr txBox="1"/>
          <p:nvPr/>
        </p:nvSpPr>
        <p:spPr>
          <a:xfrm>
            <a:off x="274389" y="2505710"/>
            <a:ext cx="41157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Key findings</a:t>
            </a:r>
            <a:endParaRPr sz="1100"/>
          </a:p>
        </p:txBody>
      </p:sp>
      <p:sp>
        <p:nvSpPr>
          <p:cNvPr id="304" name="Google Shape;304;p24"/>
          <p:cNvSpPr txBox="1"/>
          <p:nvPr/>
        </p:nvSpPr>
        <p:spPr>
          <a:xfrm>
            <a:off x="274395" y="2767325"/>
            <a:ext cx="4894500" cy="8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• Sequential exceeds 550s with high variance on full-grid queries — performance degrades catastrophically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• Parallel reduces average time but batch-level blocking replaces call-level blocking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• Hedged is fastest across every scenario; Adaptive matches it at half the API cost</a:t>
            </a:r>
            <a:endParaRPr sz="1100"/>
          </a:p>
        </p:txBody>
      </p:sp>
      <p:pic>
        <p:nvPicPr>
          <p:cNvPr id="305" name="Google Shape;30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3450" y="967800"/>
            <a:ext cx="3750549" cy="4175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5"/>
          <p:cNvSpPr/>
          <p:nvPr/>
        </p:nvSpPr>
        <p:spPr>
          <a:xfrm>
            <a:off x="0" y="0"/>
            <a:ext cx="9144000" cy="89160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30007" rotWithShape="0" dir="5400000" dist="17254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5"/>
          <p:cNvSpPr txBox="1"/>
          <p:nvPr/>
        </p:nvSpPr>
        <p:spPr>
          <a:xfrm>
            <a:off x="274388" y="68597"/>
            <a:ext cx="85746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Performance Optimization: Quantization</a:t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5"/>
          <p:cNvSpPr txBox="1"/>
          <p:nvPr/>
        </p:nvSpPr>
        <p:spPr>
          <a:xfrm>
            <a:off x="274388" y="562494"/>
            <a:ext cx="8574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Can a local 3B model replace a 70B cloud API for binary </a:t>
            </a:r>
            <a:r>
              <a:rPr lang="en" sz="1200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relevance</a:t>
            </a:r>
            <a:r>
              <a:rPr lang="en" sz="1200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 classification?</a:t>
            </a:r>
            <a:endParaRPr sz="1200">
              <a:solidFill>
                <a:srgbClr val="F5A62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5"/>
          <p:cNvSpPr txBox="1"/>
          <p:nvPr/>
        </p:nvSpPr>
        <p:spPr>
          <a:xfrm>
            <a:off x="274389" y="1097280"/>
            <a:ext cx="85746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The question</a:t>
            </a:r>
            <a:endParaRPr sz="1100"/>
          </a:p>
        </p:txBody>
      </p:sp>
      <p:sp>
        <p:nvSpPr>
          <p:cNvPr id="314" name="Google Shape;314;p25"/>
          <p:cNvSpPr txBox="1"/>
          <p:nvPr/>
        </p:nvSpPr>
        <p:spPr>
          <a:xfrm>
            <a:off x="274400" y="1367800"/>
            <a:ext cx="8755200" cy="6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• _call_relevancy (FMSR binary classifier) defaults to watsonx/llama-3-3-70b-instruct — runs 45–63× per scenario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• Hypothesis: does this task need 70B parameters? Tested 5 local models × 3 precisions (FP16, INT8, INT4) × 20 scenarios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• Models: Llama 3.2 3B · Qwen2.5 7B · DeepSeek-R1 7B · Granite 3.2 8B · Gemma2 9B   →   300 benchmark runs total</a:t>
            </a:r>
            <a:endParaRPr sz="1100"/>
          </a:p>
        </p:txBody>
      </p:sp>
      <p:sp>
        <p:nvSpPr>
          <p:cNvPr id="315" name="Google Shape;315;p25"/>
          <p:cNvSpPr txBox="1"/>
          <p:nvPr/>
        </p:nvSpPr>
        <p:spPr>
          <a:xfrm>
            <a:off x="308689" y="2104615"/>
            <a:ext cx="41157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Key findings</a:t>
            </a:r>
            <a:endParaRPr sz="1100"/>
          </a:p>
        </p:txBody>
      </p:sp>
      <p:sp>
        <p:nvSpPr>
          <p:cNvPr id="316" name="Google Shape;316;p25"/>
          <p:cNvSpPr txBox="1"/>
          <p:nvPr/>
        </p:nvSpPr>
        <p:spPr>
          <a:xfrm>
            <a:off x="308689" y="2380205"/>
            <a:ext cx="8574600" cy="6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• Llama 3.2 3B INT4 outperforms WatsonX 70B by +1.5pp — a 3B local model beats a 70B cloud API on this binary task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• INT4 quantization is not just competitive — it is the best-performing precision across multiple models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• All 5 model families stay within 0.02–0.05 of the cloud baseline, making local inference viable</a:t>
            </a:r>
            <a:endParaRPr sz="1100"/>
          </a:p>
        </p:txBody>
      </p:sp>
      <p:pic>
        <p:nvPicPr>
          <p:cNvPr id="317" name="Google Shape;317;p25" title="quant_accuracy_heatma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412" y="3071275"/>
            <a:ext cx="7069177" cy="1904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efault (WatsonX cloud):          Experiment (local Ollama):&#10;                                  &#10;FMSR_MODEL_ID = watsonx/          FMSR_MODEL_ID = ollama/&#10;  llama-3-3-70b-instruct            llama3.2:3b   ← INT4 / INT8 / FP16&#10;  ↓                                 ↓&#10;70B parameters                    3B parameters&#10;~140 GB server-side               2.0 GB local&#10;Rate-limited: 2 req/s             No limits&#10;" id="318" name="Google Shape;318;p25"/>
          <p:cNvPicPr preferRelativeResize="0"/>
          <p:nvPr/>
        </p:nvPicPr>
        <p:blipFill rotWithShape="1">
          <a:blip r:embed="rId4">
            <a:alphaModFix/>
          </a:blip>
          <a:srcRect b="51024" l="59212" r="0" t="13898"/>
          <a:stretch/>
        </p:blipFill>
        <p:spPr>
          <a:xfrm>
            <a:off x="7186475" y="2380200"/>
            <a:ext cx="1843130" cy="891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6"/>
          <p:cNvSpPr/>
          <p:nvPr/>
        </p:nvSpPr>
        <p:spPr>
          <a:xfrm>
            <a:off x="0" y="0"/>
            <a:ext cx="9144000" cy="89160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30007" rotWithShape="0" dir="5400000" dist="17254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6"/>
          <p:cNvSpPr txBox="1"/>
          <p:nvPr/>
        </p:nvSpPr>
        <p:spPr>
          <a:xfrm>
            <a:off x="284688" y="226497"/>
            <a:ext cx="8574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Results: Headline Numbers</a:t>
            </a:r>
            <a:endParaRPr b="1"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6"/>
          <p:cNvSpPr/>
          <p:nvPr/>
        </p:nvSpPr>
        <p:spPr>
          <a:xfrm>
            <a:off x="3252412" y="1835274"/>
            <a:ext cx="2758800" cy="11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5B2A"/>
              </a:buClr>
              <a:buSzPts val="4926"/>
              <a:buFont typeface="Calibri"/>
              <a:buNone/>
            </a:pPr>
            <a:r>
              <a:rPr b="1" lang="en" sz="4926">
                <a:solidFill>
                  <a:srgbClr val="C75B2A"/>
                </a:solidFill>
                <a:latin typeface="Calibri"/>
                <a:ea typeface="Calibri"/>
                <a:cs typeface="Calibri"/>
                <a:sym typeface="Calibri"/>
              </a:rPr>
              <a:t>28x</a:t>
            </a:r>
            <a:endParaRPr b="0" i="0" sz="492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6"/>
          <p:cNvSpPr/>
          <p:nvPr/>
        </p:nvSpPr>
        <p:spPr>
          <a:xfrm>
            <a:off x="3252412" y="3031733"/>
            <a:ext cx="2758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32"/>
              <a:buFont typeface="Calibri"/>
              <a:buNone/>
            </a:pPr>
            <a:r>
              <a:rPr b="1" lang="en" sz="1039">
                <a:solidFill>
                  <a:srgbClr val="000000"/>
                </a:solidFill>
              </a:rPr>
              <a:t>faster wall time (parallelization)</a:t>
            </a:r>
            <a:endParaRPr b="1" i="0" sz="123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6"/>
          <p:cNvSpPr/>
          <p:nvPr/>
        </p:nvSpPr>
        <p:spPr>
          <a:xfrm>
            <a:off x="3252412" y="3348443"/>
            <a:ext cx="2758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924"/>
              <a:buFont typeface="Calibri"/>
              <a:buNone/>
            </a:pPr>
            <a:r>
              <a:rPr lang="en" sz="107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559s → 20s on tail-bound scenarios</a:t>
            </a:r>
            <a:endParaRPr i="0" sz="107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6"/>
          <p:cNvSpPr/>
          <p:nvPr/>
        </p:nvSpPr>
        <p:spPr>
          <a:xfrm>
            <a:off x="5888468" y="1847644"/>
            <a:ext cx="2758800" cy="11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5B2A"/>
              </a:buClr>
              <a:buSzPts val="4926"/>
              <a:buFont typeface="Calibri"/>
              <a:buNone/>
            </a:pPr>
            <a:r>
              <a:rPr b="1" lang="en" sz="4926">
                <a:solidFill>
                  <a:srgbClr val="C75B2A"/>
                </a:solidFill>
                <a:latin typeface="Calibri"/>
                <a:ea typeface="Calibri"/>
                <a:cs typeface="Calibri"/>
                <a:sym typeface="Calibri"/>
              </a:rPr>
              <a:t>67</a:t>
            </a:r>
            <a:r>
              <a:rPr b="1" i="0" lang="en" sz="4926" u="none" cap="none" strike="noStrike">
                <a:solidFill>
                  <a:srgbClr val="C75B2A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b="0" i="0" sz="492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6"/>
          <p:cNvSpPr/>
          <p:nvPr/>
        </p:nvSpPr>
        <p:spPr>
          <a:xfrm>
            <a:off x="5888468" y="3044103"/>
            <a:ext cx="2758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32"/>
              <a:buFont typeface="Calibri"/>
              <a:buNone/>
            </a:pPr>
            <a:r>
              <a:rPr b="1" i="0" lang="en" sz="1232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less memory (quantization)</a:t>
            </a:r>
            <a:endParaRPr b="0" i="0" sz="123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6"/>
          <p:cNvSpPr/>
          <p:nvPr/>
        </p:nvSpPr>
        <p:spPr>
          <a:xfrm>
            <a:off x="5888468" y="3360813"/>
            <a:ext cx="2758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924"/>
              <a:buFont typeface="Calibri"/>
              <a:buNone/>
            </a:pPr>
            <a:r>
              <a:rPr lang="en" sz="107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6.0 GB FP16 → 2.0 GB INT4</a:t>
            </a:r>
            <a:endParaRPr sz="107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6"/>
          <p:cNvSpPr/>
          <p:nvPr/>
        </p:nvSpPr>
        <p:spPr>
          <a:xfrm>
            <a:off x="496741" y="1826863"/>
            <a:ext cx="2758800" cy="11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5B2A"/>
              </a:buClr>
              <a:buSzPts val="4926"/>
              <a:buFont typeface="Calibri"/>
              <a:buNone/>
            </a:pPr>
            <a:r>
              <a:rPr b="1" lang="en" sz="4926">
                <a:solidFill>
                  <a:srgbClr val="C75B2A"/>
                </a:solidFill>
                <a:latin typeface="Calibri"/>
                <a:ea typeface="Calibri"/>
                <a:cs typeface="Calibri"/>
                <a:sym typeface="Calibri"/>
              </a:rPr>
              <a:t>40.3</a:t>
            </a:r>
            <a:r>
              <a:rPr b="1" i="0" lang="en" sz="4926" u="none" cap="none" strike="noStrike">
                <a:solidFill>
                  <a:srgbClr val="C75B2A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b="0" i="0" sz="492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6"/>
          <p:cNvSpPr/>
          <p:nvPr/>
        </p:nvSpPr>
        <p:spPr>
          <a:xfrm>
            <a:off x="496741" y="3023322"/>
            <a:ext cx="2758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32"/>
              <a:buFont typeface="Calibri"/>
              <a:buNone/>
            </a:pPr>
            <a:r>
              <a:rPr b="1" lang="en" sz="1232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reduction in wall time</a:t>
            </a:r>
            <a:r>
              <a:rPr b="1" i="0" lang="en" sz="1232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b="1" lang="en" sz="1232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caching</a:t>
            </a:r>
            <a:r>
              <a:rPr b="1" i="0" lang="en" sz="1232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23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6"/>
          <p:cNvSpPr/>
          <p:nvPr/>
        </p:nvSpPr>
        <p:spPr>
          <a:xfrm>
            <a:off x="496741" y="3340032"/>
            <a:ext cx="2758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924"/>
              <a:buFont typeface="Calibri"/>
              <a:buNone/>
            </a:pPr>
            <a:r>
              <a:rPr lang="en" sz="107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320s → 55s on tail-bound scenarios</a:t>
            </a:r>
            <a:endParaRPr sz="107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7"/>
          <p:cNvSpPr/>
          <p:nvPr/>
        </p:nvSpPr>
        <p:spPr>
          <a:xfrm>
            <a:off x="-1558160" y="27365"/>
            <a:ext cx="10972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CC4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B8BCC4"/>
                </a:solidFill>
                <a:latin typeface="Calibri"/>
                <a:ea typeface="Calibri"/>
                <a:cs typeface="Calibri"/>
                <a:sym typeface="Calibri"/>
              </a:rPr>
              <a:t>HPML Final Project  ·  Spring 2026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7"/>
          <p:cNvSpPr/>
          <p:nvPr/>
        </p:nvSpPr>
        <p:spPr>
          <a:xfrm>
            <a:off x="-1558160" y="1490405"/>
            <a:ext cx="109728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</a:pPr>
            <a:r>
              <a:rPr b="1" i="0" lang="en" sz="5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[Project Title]</a:t>
            </a:r>
            <a:endParaRPr b="0" i="0" sz="5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7"/>
          <p:cNvSpPr/>
          <p:nvPr/>
        </p:nvSpPr>
        <p:spPr>
          <a:xfrm>
            <a:off x="-1558160" y="2862005"/>
            <a:ext cx="10972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CC4"/>
              </a:buClr>
              <a:buSzPts val="2000"/>
              <a:buFont typeface="Calibri"/>
              <a:buNone/>
            </a:pPr>
            <a:r>
              <a:rPr b="0" i="1" lang="en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[A one-sentence description of what you optimized and the headline result]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7"/>
          <p:cNvSpPr/>
          <p:nvPr/>
        </p:nvSpPr>
        <p:spPr>
          <a:xfrm>
            <a:off x="-1558160" y="4050725"/>
            <a:ext cx="54864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[Team Name]</a:t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CD2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[Member 1] · [UNI]</a:t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CD2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[Member 2] · [UNI]</a:t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CD2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[Member 3] · [UNI]</a:t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CD2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[Member 4] · [UNI]</a:t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7"/>
          <p:cNvSpPr/>
          <p:nvPr/>
        </p:nvSpPr>
        <p:spPr>
          <a:xfrm>
            <a:off x="-1558160" y="5879525"/>
            <a:ext cx="10972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939A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Dr. Kaoutar El Maghraoui  ·  Columbia University  ·  Week of May 4, 2026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7"/>
          <p:cNvSpPr/>
          <p:nvPr/>
        </p:nvSpPr>
        <p:spPr>
          <a:xfrm>
            <a:off x="-2112775" y="-521275"/>
            <a:ext cx="12191700" cy="6858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7"/>
          <p:cNvSpPr txBox="1"/>
          <p:nvPr/>
        </p:nvSpPr>
        <p:spPr>
          <a:xfrm>
            <a:off x="-1558150" y="480600"/>
            <a:ext cx="4693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C9CDD3"/>
                </a:solidFill>
                <a:latin typeface="Calibri"/>
                <a:ea typeface="Calibri"/>
                <a:cs typeface="Calibri"/>
                <a:sym typeface="Calibri"/>
              </a:rPr>
              <a:t>Generative AI Using LLMs </a:t>
            </a:r>
            <a:r>
              <a:rPr i="0" lang="en" sz="1600" u="none" cap="none" strike="noStrike">
                <a:solidFill>
                  <a:srgbClr val="C9CDD3"/>
                </a:solidFill>
                <a:latin typeface="Calibri"/>
                <a:ea typeface="Calibri"/>
                <a:cs typeface="Calibri"/>
                <a:sym typeface="Calibri"/>
              </a:rPr>
              <a:t>Final Project · Spring 2026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7"/>
          <p:cNvSpPr txBox="1"/>
          <p:nvPr/>
        </p:nvSpPr>
        <p:spPr>
          <a:xfrm>
            <a:off x="-1433925" y="908150"/>
            <a:ext cx="10972800" cy="30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b="1" sz="4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 u="sng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Acknowledgments</a:t>
            </a:r>
            <a:endParaRPr b="1" sz="2400" u="sng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INSTRUCTOR - Prof. Parijat Dube [Adjunct Professor, Columbia University] </a:t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 PI - Dr. Dhaval C. Patel [IBM Research] </a:t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TEACHING ASSISTANT - Berkay Baris Turan</a:t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7"/>
          <p:cNvSpPr txBox="1"/>
          <p:nvPr/>
        </p:nvSpPr>
        <p:spPr>
          <a:xfrm>
            <a:off x="-1433925" y="5372900"/>
            <a:ext cx="7210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Name: </a:t>
            </a:r>
            <a:r>
              <a:rPr b="1" lang="e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Shriya Aishani Rachakonda (sr4321)</a:t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Email: </a:t>
            </a:r>
            <a:r>
              <a:rPr b="1" lang="en" sz="24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sr4321@columbia.edu</a:t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7"/>
          <p:cNvSpPr txBox="1"/>
          <p:nvPr/>
        </p:nvSpPr>
        <p:spPr>
          <a:xfrm>
            <a:off x="-1433925" y="4939050"/>
            <a:ext cx="956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GitHub: </a:t>
            </a:r>
            <a:r>
              <a:rPr b="1" lang="en" sz="24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github.com/aishani-rachakonda/genai-using-llms-final-project</a:t>
            </a:r>
            <a:r>
              <a:rPr b="1" lang="e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1" sz="2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